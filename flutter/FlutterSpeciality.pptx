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62" r:id="rId5"/>
    <p:sldId id="264" r:id="rId6"/>
    <p:sldId id="263" r:id="rId7"/>
    <p:sldId id="283" r:id="rId8"/>
    <p:sldId id="265" r:id="rId9"/>
    <p:sldId id="267" r:id="rId10"/>
    <p:sldId id="273" r:id="rId11"/>
    <p:sldId id="270" r:id="rId12"/>
    <p:sldId id="271" r:id="rId13"/>
    <p:sldId id="272" r:id="rId14"/>
    <p:sldId id="275" r:id="rId15"/>
    <p:sldId id="276" r:id="rId16"/>
    <p:sldId id="285" r:id="rId17"/>
    <p:sldId id="284" r:id="rId18"/>
    <p:sldId id="277" r:id="rId19"/>
    <p:sldId id="279" r:id="rId20"/>
    <p:sldId id="295" r:id="rId21"/>
    <p:sldId id="286" r:id="rId22"/>
    <p:sldId id="280" r:id="rId23"/>
    <p:sldId id="287" r:id="rId24"/>
    <p:sldId id="288" r:id="rId25"/>
    <p:sldId id="281" r:id="rId26"/>
    <p:sldId id="291" r:id="rId27"/>
    <p:sldId id="289" r:id="rId28"/>
    <p:sldId id="292" r:id="rId29"/>
    <p:sldId id="282" r:id="rId30"/>
    <p:sldId id="296" r:id="rId31"/>
    <p:sldId id="294" r:id="rId3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06E784-ABA1-423B-83F5-5F35CB3BC8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5858515" y="1567132"/>
            <a:ext cx="544648" cy="532533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1524000" y="735877"/>
            <a:ext cx="728663" cy="728662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178" y="1224721"/>
            <a:ext cx="1357984" cy="135798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178" y="677414"/>
            <a:ext cx="381368" cy="38136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445" y="1997556"/>
            <a:ext cx="464095" cy="4640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92" y="301695"/>
            <a:ext cx="868363" cy="86836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978" y="1785187"/>
            <a:ext cx="381368" cy="3813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3765008"/>
            <a:ext cx="9144000" cy="1506573"/>
          </a:xfrm>
        </p:spPr>
        <p:txBody>
          <a:bodyPr anchor="t">
            <a:normAutofit/>
          </a:bodyPr>
          <a:lstStyle>
            <a:lvl1pPr algn="ctr">
              <a:defRPr sz="6600" b="1"/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340639"/>
            <a:ext cx="9144000" cy="1298594"/>
          </a:xfrm>
        </p:spPr>
        <p:txBody>
          <a:bodyPr anchor="b">
            <a:normAutofit/>
          </a:bodyPr>
          <a:lstStyle>
            <a:lvl1pPr marL="0" indent="0" algn="ctr">
              <a:buNone/>
              <a:defRPr sz="6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直接连接符 27"/>
          <p:cNvSpPr>
            <a:spLocks noChangeShapeType="1"/>
          </p:cNvSpPr>
          <p:nvPr/>
        </p:nvSpPr>
        <p:spPr bwMode="auto">
          <a:xfrm>
            <a:off x="1960654" y="5271581"/>
            <a:ext cx="8270692" cy="6461"/>
          </a:xfrm>
          <a:prstGeom prst="line">
            <a:avLst/>
          </a:prstGeom>
          <a:noFill/>
          <a:ln w="6350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Oval 5"/>
          <p:cNvSpPr>
            <a:spLocks noChangeArrowheads="1"/>
          </p:cNvSpPr>
          <p:nvPr/>
        </p:nvSpPr>
        <p:spPr bwMode="auto">
          <a:xfrm>
            <a:off x="10156866" y="527720"/>
            <a:ext cx="392248" cy="381368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877771"/>
            <a:ext cx="10515600" cy="1334486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59783">
            <a:off x="3711374" y="825374"/>
            <a:ext cx="1461459" cy="14614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038600" y="2450529"/>
            <a:ext cx="4114799" cy="1692165"/>
          </a:xfrm>
        </p:spPr>
        <p:txBody>
          <a:bodyPr>
            <a:normAutofit/>
          </a:bodyPr>
          <a:lstStyle>
            <a:lvl1pPr algn="ctr">
              <a:defRPr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4038600" y="2450529"/>
            <a:ext cx="4114801" cy="169216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26848">
            <a:off x="3668213" y="3421562"/>
            <a:ext cx="1056038" cy="1062464"/>
          </a:xfrm>
          <a:prstGeom prst="rect">
            <a:avLst/>
          </a:prstGeom>
        </p:spPr>
      </p:pic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8424589" y="2062092"/>
            <a:ext cx="359526" cy="365125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3" name="Oval 12"/>
          <p:cNvSpPr>
            <a:spLocks noChangeArrowheads="1"/>
          </p:cNvSpPr>
          <p:nvPr/>
        </p:nvSpPr>
        <p:spPr bwMode="auto">
          <a:xfrm>
            <a:off x="8978462" y="2743109"/>
            <a:ext cx="733097" cy="728662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222" y="1734030"/>
            <a:ext cx="466919" cy="46409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098" y="3385911"/>
            <a:ext cx="805385" cy="800514"/>
          </a:xfrm>
          <a:prstGeom prst="rect">
            <a:avLst/>
          </a:prstGeom>
        </p:spPr>
      </p:pic>
      <p:sp>
        <p:nvSpPr>
          <p:cNvPr id="26" name="星形: 四角 25"/>
          <p:cNvSpPr/>
          <p:nvPr/>
        </p:nvSpPr>
        <p:spPr>
          <a:xfrm rot="20186560">
            <a:off x="8990836" y="2033373"/>
            <a:ext cx="466919" cy="514055"/>
          </a:xfrm>
          <a:prstGeom prst="star4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626" y="1415274"/>
            <a:ext cx="952498" cy="946737"/>
          </a:xfrm>
          <a:prstGeom prst="rect">
            <a:avLst/>
          </a:prstGeom>
        </p:spPr>
      </p:pic>
      <p:sp>
        <p:nvSpPr>
          <p:cNvPr id="28" name="Freeform 14"/>
          <p:cNvSpPr>
            <a:spLocks noChangeArrowheads="1"/>
          </p:cNvSpPr>
          <p:nvPr/>
        </p:nvSpPr>
        <p:spPr bwMode="auto">
          <a:xfrm rot="20348132" flipH="1">
            <a:off x="7926453" y="3219521"/>
            <a:ext cx="45719" cy="159845"/>
          </a:xfrm>
          <a:custGeom>
            <a:avLst/>
            <a:gdLst>
              <a:gd name="T0" fmla="*/ 63011844 w 1"/>
              <a:gd name="T1" fmla="*/ 1467301888 h 13"/>
              <a:gd name="T2" fmla="*/ 0 w 1"/>
              <a:gd name="T3" fmla="*/ 0 h 13"/>
              <a:gd name="T4" fmla="*/ 0 60000 65536"/>
              <a:gd name="T5" fmla="*/ 0 60000 65536"/>
              <a:gd name="T6" fmla="*/ 0 w 1"/>
              <a:gd name="T7" fmla="*/ 0 h 13"/>
              <a:gd name="T8" fmla="*/ 1 w 1"/>
              <a:gd name="T9" fmla="*/ 13 h 1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3">
                <a:moveTo>
                  <a:pt x="1" y="13"/>
                </a:moveTo>
                <a:cubicBezTo>
                  <a:pt x="0" y="9"/>
                  <a:pt x="0" y="4"/>
                  <a:pt x="0" y="0"/>
                </a:cubicBezTo>
              </a:path>
            </a:pathLst>
          </a:custGeom>
          <a:noFill/>
          <a:ln w="60325" cap="rnd" cmpd="sng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Freeform 15"/>
          <p:cNvSpPr>
            <a:spLocks noChangeArrowheads="1"/>
          </p:cNvSpPr>
          <p:nvPr/>
        </p:nvSpPr>
        <p:spPr bwMode="auto">
          <a:xfrm rot="20695216" flipH="1">
            <a:off x="7585238" y="2584257"/>
            <a:ext cx="254236" cy="494990"/>
          </a:xfrm>
          <a:custGeom>
            <a:avLst/>
            <a:gdLst>
              <a:gd name="T0" fmla="*/ 0 w 58"/>
              <a:gd name="T1" fmla="*/ 2147483647 h 55"/>
              <a:gd name="T2" fmla="*/ 2147483647 w 58"/>
              <a:gd name="T3" fmla="*/ 0 h 55"/>
              <a:gd name="T4" fmla="*/ 0 60000 65536"/>
              <a:gd name="T5" fmla="*/ 0 60000 65536"/>
              <a:gd name="T6" fmla="*/ 0 w 58"/>
              <a:gd name="T7" fmla="*/ 0 h 55"/>
              <a:gd name="T8" fmla="*/ 58 w 58"/>
              <a:gd name="T9" fmla="*/ 55 h 5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" h="55">
                <a:moveTo>
                  <a:pt x="0" y="55"/>
                </a:moveTo>
                <a:cubicBezTo>
                  <a:pt x="10" y="29"/>
                  <a:pt x="31" y="9"/>
                  <a:pt x="58" y="0"/>
                </a:cubicBezTo>
              </a:path>
            </a:pathLst>
          </a:custGeom>
          <a:noFill/>
          <a:ln w="60325" cap="rnd" cmpd="sng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6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hyperlink" Target="https://flutter.dev/showcase#&#13;" TargetMode="Externa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4.xml"/><Relationship Id="rId3" Type="http://schemas.openxmlformats.org/officeDocument/2006/relationships/image" Target="../media/image14.png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6.xml"/><Relationship Id="rId3" Type="http://schemas.openxmlformats.org/officeDocument/2006/relationships/image" Target="../media/image15.png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Relationship Id="rId3" Type="http://schemas.openxmlformats.org/officeDocument/2006/relationships/hyperlink" Target="https://www.oschina.net/news/103715/flutter-2019-roadmap" TargetMode="Externa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16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17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18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9.xml"/><Relationship Id="rId4" Type="http://schemas.openxmlformats.org/officeDocument/2006/relationships/image" Target="../media/image19.png"/><Relationship Id="rId3" Type="http://schemas.openxmlformats.org/officeDocument/2006/relationships/image" Target="../media/image16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20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sym typeface="+mn-lt"/>
              </a:rPr>
              <a:t>iOS </a:t>
            </a:r>
            <a:r>
              <a:rPr lang="zh-CN" altLang="en-US">
                <a:sym typeface="+mn-lt"/>
              </a:rPr>
              <a:t>顾吉涛</a:t>
            </a:r>
            <a:endParaRPr lang="zh-CN" altLang="en-US">
              <a:sym typeface="+mn-lt"/>
            </a:endParaRPr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>
                <a:sym typeface="+mn-lt"/>
              </a:rPr>
              <a:t>Flutter </a:t>
            </a:r>
            <a:r>
              <a:rPr lang="zh-CN" altLang="en-US">
                <a:sym typeface="+mn-lt"/>
              </a:rPr>
              <a:t>开发优势</a:t>
            </a:r>
            <a:endParaRPr lang="zh-CN" altLang="en-US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216631" y="509183"/>
            <a:ext cx="5758738" cy="92333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90204" pitchFamily="34" charset="0"/>
              </a:rPr>
              <a:t>提纲</a:t>
            </a:r>
            <a:endParaRPr lang="zh-CN" altLang="en-US" sz="5400" dirty="0">
              <a:solidFill>
                <a:schemeClr val="bg1"/>
              </a:solidFill>
              <a:latin typeface="+mj-lt"/>
              <a:ea typeface="+mj-ea"/>
              <a:cs typeface="+mj-cs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 rot="0">
            <a:off x="2515235" y="1674495"/>
            <a:ext cx="7060565" cy="794385"/>
            <a:chOff x="2728386" y="2910114"/>
            <a:chExt cx="5568949" cy="626477"/>
          </a:xfrm>
        </p:grpSpPr>
        <p:sp>
          <p:nvSpPr>
            <p:cNvPr id="7" name="等腰三角形 6"/>
            <p:cNvSpPr/>
            <p:nvPr>
              <p:custDataLst>
                <p:tags r:id="rId3"/>
              </p:custDataLst>
            </p:nvPr>
          </p:nvSpPr>
          <p:spPr>
            <a:xfrm>
              <a:off x="2728386" y="2910114"/>
              <a:ext cx="635000" cy="54741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144000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chemeClr val="bg1"/>
                  </a:solidFill>
                </a:rPr>
                <a:t>1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" name="文本框 1"/>
            <p:cNvSpPr txBox="1"/>
            <p:nvPr>
              <p:custDataLst>
                <p:tags r:id="rId4"/>
              </p:custDataLst>
            </p:nvPr>
          </p:nvSpPr>
          <p:spPr>
            <a:xfrm>
              <a:off x="3545721" y="3013371"/>
              <a:ext cx="47516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 anchorCtr="0">
              <a:norm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buFontTx/>
                <a:buNone/>
                <a:defRPr sz="2800">
                  <a:latin typeface="+mn-lt"/>
                  <a:ea typeface="+mn-ea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9pPr>
            </a:lstStyle>
            <a:p>
              <a:pPr algn="l"/>
              <a:r>
                <a:rPr lang="zh-CN" altLang="en-US" dirty="0">
                  <a:solidFill>
                    <a:schemeClr val="bg1"/>
                  </a:solidFill>
                </a:rPr>
                <a:t>直观 </a:t>
              </a:r>
              <a:r>
                <a:rPr lang="en-US" altLang="zh-CN" dirty="0">
                  <a:solidFill>
                    <a:schemeClr val="bg1"/>
                  </a:solidFill>
                </a:rPr>
                <a:t>Flutter</a:t>
              </a:r>
              <a:endParaRPr lang="en-US" altLang="zh-C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5"/>
            </p:custDataLst>
          </p:nvPr>
        </p:nvGrpSpPr>
        <p:grpSpPr>
          <a:xfrm rot="0">
            <a:off x="2515235" y="3190240"/>
            <a:ext cx="7060565" cy="794385"/>
            <a:chOff x="2728386" y="2910114"/>
            <a:chExt cx="5568949" cy="626477"/>
          </a:xfrm>
        </p:grpSpPr>
        <p:sp>
          <p:nvSpPr>
            <p:cNvPr id="6" name="等腰三角形 5"/>
            <p:cNvSpPr/>
            <p:nvPr>
              <p:custDataLst>
                <p:tags r:id="rId6"/>
              </p:custDataLst>
            </p:nvPr>
          </p:nvSpPr>
          <p:spPr>
            <a:xfrm>
              <a:off x="2728386" y="2910114"/>
              <a:ext cx="635000" cy="54741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144000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chemeClr val="bg1"/>
                  </a:solidFill>
                </a:rPr>
                <a:t>2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7"/>
              </p:custDataLst>
            </p:nvPr>
          </p:nvSpPr>
          <p:spPr>
            <a:xfrm>
              <a:off x="3545721" y="3013371"/>
              <a:ext cx="47516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 anchorCtr="0">
              <a:norm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buFontTx/>
                <a:buNone/>
                <a:defRPr sz="2800">
                  <a:latin typeface="+mn-lt"/>
                  <a:ea typeface="+mn-ea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9pPr>
            </a:lstStyle>
            <a:p>
              <a:pPr algn="l"/>
              <a:r>
                <a:rPr lang="en-US" altLang="zh-CN" dirty="0">
                  <a:solidFill>
                    <a:schemeClr val="bg1"/>
                  </a:solidFill>
                </a:rPr>
                <a:t>Flutter </a:t>
              </a:r>
              <a:r>
                <a:rPr lang="zh-CN" altLang="en-US" dirty="0">
                  <a:solidFill>
                    <a:schemeClr val="bg1"/>
                  </a:solidFill>
                </a:rPr>
                <a:t>对比</a:t>
              </a:r>
              <a:r>
                <a:rPr lang="en-US" altLang="zh-CN" dirty="0">
                  <a:solidFill>
                    <a:schemeClr val="bg1"/>
                  </a:solidFill>
                </a:rPr>
                <a:t>Native (iOS)</a:t>
              </a:r>
              <a:endParaRPr lang="en-US" altLang="zh-C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 rot="0">
            <a:off x="2515235" y="5567680"/>
            <a:ext cx="7060565" cy="794385"/>
            <a:chOff x="2728386" y="2910114"/>
            <a:chExt cx="5568949" cy="626477"/>
          </a:xfrm>
        </p:grpSpPr>
        <p:sp>
          <p:nvSpPr>
            <p:cNvPr id="13" name="等腰三角形 12"/>
            <p:cNvSpPr/>
            <p:nvPr>
              <p:custDataLst>
                <p:tags r:id="rId9"/>
              </p:custDataLst>
            </p:nvPr>
          </p:nvSpPr>
          <p:spPr>
            <a:xfrm>
              <a:off x="2728386" y="2910114"/>
              <a:ext cx="635000" cy="54741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144000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chemeClr val="bg1"/>
                  </a:solidFill>
                </a:rPr>
                <a:t>4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0"/>
              </p:custDataLst>
            </p:nvPr>
          </p:nvSpPr>
          <p:spPr>
            <a:xfrm>
              <a:off x="3545721" y="3013371"/>
              <a:ext cx="47516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 anchorCtr="0">
              <a:norm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buFontTx/>
                <a:buNone/>
                <a:defRPr sz="2800">
                  <a:latin typeface="+mn-lt"/>
                  <a:ea typeface="+mn-ea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9pPr>
            </a:lstStyle>
            <a:p>
              <a:pPr algn="l"/>
              <a:r>
                <a:rPr lang="zh-CN" altLang="en-US" dirty="0">
                  <a:solidFill>
                    <a:schemeClr val="bg1"/>
                  </a:solidFill>
                </a:rPr>
                <a:t>快速入门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等腰三角形 15"/>
          <p:cNvSpPr/>
          <p:nvPr>
            <p:custDataLst>
              <p:tags r:id="rId11"/>
            </p:custDataLst>
          </p:nvPr>
        </p:nvSpPr>
        <p:spPr>
          <a:xfrm>
            <a:off x="2515870" y="1674495"/>
            <a:ext cx="805180" cy="694055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144000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27" name="组合 26"/>
          <p:cNvGrpSpPr/>
          <p:nvPr>
            <p:custDataLst>
              <p:tags r:id="rId12"/>
            </p:custDataLst>
          </p:nvPr>
        </p:nvGrpSpPr>
        <p:grpSpPr>
          <a:xfrm rot="0">
            <a:off x="2515235" y="4385945"/>
            <a:ext cx="7059930" cy="794385"/>
            <a:chOff x="2728386" y="2910114"/>
            <a:chExt cx="5568949" cy="626477"/>
          </a:xfrm>
        </p:grpSpPr>
        <p:sp>
          <p:nvSpPr>
            <p:cNvPr id="28" name="等腰三角形 27"/>
            <p:cNvSpPr/>
            <p:nvPr>
              <p:custDataLst>
                <p:tags r:id="rId13"/>
              </p:custDataLst>
            </p:nvPr>
          </p:nvSpPr>
          <p:spPr>
            <a:xfrm>
              <a:off x="2728386" y="2910114"/>
              <a:ext cx="635000" cy="54741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144000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chemeClr val="bg1"/>
                  </a:solidFill>
                </a:rPr>
                <a:t>3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3545721" y="3013371"/>
              <a:ext cx="47516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 anchorCtr="0">
              <a:norm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buFontTx/>
                <a:buNone/>
                <a:defRPr sz="2800">
                  <a:latin typeface="+mn-lt"/>
                  <a:ea typeface="+mn-ea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</a:lvl9pPr>
            </a:lstStyle>
            <a:p>
              <a:pPr algn="l"/>
              <a:r>
                <a:rPr lang="zh-CN" altLang="en-US" dirty="0">
                  <a:solidFill>
                    <a:schemeClr val="bg1"/>
                  </a:solidFill>
                </a:rPr>
                <a:t>接入当前程序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77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>
                <a:solidFill>
                  <a:schemeClr val="bg1"/>
                </a:solidFill>
                <a:latin typeface="+mn-lt"/>
                <a:ea typeface="+mn-ea"/>
                <a:sym typeface="+mn-lt"/>
              </a:rPr>
              <a:t>1</a:t>
            </a:r>
            <a:endParaRPr lang="en-US" altLang="zh-CN" sz="16600" b="1">
              <a:solidFill>
                <a:schemeClr val="bg1"/>
              </a:solidFill>
              <a:latin typeface="+mn-lt"/>
              <a:ea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直观  </a:t>
            </a:r>
            <a:r>
              <a:rPr lang="en-US" altLang="zh-CN" dirty="0">
                <a:sym typeface="+mn-lt"/>
              </a:rPr>
              <a:t>Flutter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sym typeface="+mn-lt"/>
              </a:rPr>
              <a:t>Flutter </a:t>
            </a:r>
            <a:r>
              <a:rPr lang="zh-CN" altLang="en-US" dirty="0">
                <a:solidFill>
                  <a:schemeClr val="bg1"/>
                </a:solidFill>
                <a:sym typeface="+mn-lt"/>
              </a:rPr>
              <a:t>简介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3200" dirty="0">
                <a:sym typeface="+mn-lt"/>
              </a:rPr>
              <a:t>Flutter是一个由谷歌开发的开源移动应用软件开发工具包，用于为Android和iOS开发应用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同类参考：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460" y="3824605"/>
            <a:ext cx="2992755" cy="2352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3826510"/>
            <a:ext cx="2350800" cy="23508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区别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R</a:t>
            </a:r>
            <a:r>
              <a:rPr lang="en-US" altLang="zh-CN" dirty="0">
                <a:sym typeface="+mn-lt"/>
              </a:rPr>
              <a:t>N, Weex : </a:t>
            </a:r>
            <a:r>
              <a:rPr lang="zh-CN" altLang="en-US" dirty="0">
                <a:sym typeface="+mn-lt"/>
              </a:rPr>
              <a:t>渲染，</a:t>
            </a:r>
            <a:r>
              <a:rPr lang="en-US" altLang="zh-CN" dirty="0">
                <a:sym typeface="+mn-lt"/>
              </a:rPr>
              <a:t>Native</a:t>
            </a:r>
            <a:r>
              <a:rPr lang="zh-CN" altLang="en-US" dirty="0">
                <a:sym typeface="+mn-lt"/>
              </a:rPr>
              <a:t>交互基于浏览器</a:t>
            </a:r>
            <a:r>
              <a:rPr lang="en-US" altLang="zh-CN" dirty="0">
                <a:sym typeface="+mn-lt"/>
              </a:rPr>
              <a:t> </a:t>
            </a:r>
            <a:endParaRPr lang="en-US" altLang="zh-CN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sym typeface="+mn-lt"/>
              </a:rPr>
              <a:t>Flutter</a:t>
            </a:r>
            <a:r>
              <a:rPr lang="zh-CN" altLang="en-US" dirty="0">
                <a:sym typeface="+mn-lt"/>
              </a:rPr>
              <a:t> ： 渲染，</a:t>
            </a:r>
            <a:r>
              <a:rPr lang="en-US" altLang="zh-CN" dirty="0">
                <a:sym typeface="+mn-lt"/>
              </a:rPr>
              <a:t>Native</a:t>
            </a:r>
            <a:r>
              <a:rPr lang="zh-CN" altLang="en-US" dirty="0">
                <a:sym typeface="+mn-lt"/>
              </a:rPr>
              <a:t>交互基于自定义的</a:t>
            </a:r>
            <a:r>
              <a:rPr lang="en-US" altLang="zh-CN" dirty="0">
                <a:sym typeface="+mn-lt"/>
              </a:rPr>
              <a:t>Flutter Engine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目前的应用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7" name="内容占位符 6"/>
          <p:cNvSpPr/>
          <p:nvPr>
            <p:ph idx="1"/>
          </p:nvPr>
        </p:nvSpPr>
        <p:spPr>
          <a:xfrm>
            <a:off x="1005205" y="5333365"/>
            <a:ext cx="6285230" cy="510540"/>
          </a:xfrm>
        </p:spPr>
        <p:txBody>
          <a:bodyPr/>
          <a:p>
            <a:r>
              <a:rPr lang="zh-CN" altLang="en-US"/>
              <a:t>更多例子：</a:t>
            </a:r>
            <a:r>
              <a:rPr lang="zh-CN" altLang="en-US">
                <a:solidFill>
                  <a:schemeClr val="bg1"/>
                </a:solidFill>
                <a:hlinkClick r:id="rId2" action="ppaction://hlinkfile"/>
              </a:rPr>
              <a:t>https://flutter.dev/showcase#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60" y="2163445"/>
            <a:ext cx="2286000" cy="2286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430" y="2163445"/>
            <a:ext cx="2286000" cy="2286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075" y="2163445"/>
            <a:ext cx="2286000" cy="2286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闲鱼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410" y="1691005"/>
            <a:ext cx="2704465" cy="48088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245" y="1691005"/>
            <a:ext cx="2743200" cy="48768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77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>
                <a:solidFill>
                  <a:schemeClr val="bg1"/>
                </a:solidFill>
                <a:latin typeface="+mn-lt"/>
                <a:ea typeface="+mn-ea"/>
                <a:sym typeface="+mn-lt"/>
              </a:rPr>
              <a:t>2</a:t>
            </a:r>
            <a:endParaRPr lang="en-US" altLang="zh-CN" sz="16600" b="1">
              <a:solidFill>
                <a:schemeClr val="bg1"/>
              </a:solidFill>
              <a:latin typeface="+mn-lt"/>
              <a:ea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对比</a:t>
            </a:r>
            <a:r>
              <a:rPr lang="en-US" altLang="zh-CN" dirty="0">
                <a:sym typeface="+mn-lt"/>
              </a:rPr>
              <a:t>Native </a:t>
            </a:r>
            <a:r>
              <a:rPr lang="zh-CN" altLang="en-US" dirty="0">
                <a:sym typeface="+mn-lt"/>
              </a:rPr>
              <a:t>优势（</a:t>
            </a:r>
            <a:r>
              <a:rPr lang="en-US" altLang="zh-CN" dirty="0">
                <a:sym typeface="+mn-lt"/>
              </a:rPr>
              <a:t>iOS</a:t>
            </a:r>
            <a:r>
              <a:rPr lang="zh-CN" altLang="en-US" dirty="0">
                <a:sym typeface="+mn-lt"/>
              </a:rPr>
              <a:t>）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对比 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Native </a:t>
            </a:r>
            <a:r>
              <a:rPr lang="zh-CN" altLang="en-US" dirty="0">
                <a:solidFill>
                  <a:schemeClr val="bg1"/>
                </a:solidFill>
                <a:sym typeface="+mn-lt"/>
              </a:rPr>
              <a:t>优势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跨平台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sym typeface="+mn-lt"/>
              </a:rPr>
              <a:t>Hot Reload (</a:t>
            </a:r>
            <a:r>
              <a:rPr lang="zh-CN" altLang="en-US" dirty="0">
                <a:sym typeface="+mn-lt"/>
              </a:rPr>
              <a:t>不是热更新</a:t>
            </a:r>
            <a:r>
              <a:rPr lang="en-US" altLang="zh-CN" dirty="0">
                <a:sym typeface="+mn-lt"/>
              </a:rPr>
              <a:t>)</a:t>
            </a:r>
            <a:r>
              <a:rPr lang="zh-CN" altLang="en-US" dirty="0">
                <a:sym typeface="+mn-lt"/>
              </a:rPr>
              <a:t> 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有效利用既有的</a:t>
            </a:r>
            <a:r>
              <a:rPr lang="en-US" altLang="zh-CN" dirty="0">
                <a:sym typeface="+mn-lt"/>
              </a:rPr>
              <a:t>Native</a:t>
            </a:r>
            <a:r>
              <a:rPr lang="zh-CN" altLang="en-US" dirty="0">
                <a:sym typeface="+mn-lt"/>
              </a:rPr>
              <a:t>资源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便捷的</a:t>
            </a:r>
            <a:r>
              <a:rPr lang="en-US" altLang="zh-CN" dirty="0">
                <a:sym typeface="+mn-lt"/>
              </a:rPr>
              <a:t>UI</a:t>
            </a:r>
            <a:r>
              <a:rPr lang="zh-CN" altLang="en-US" dirty="0">
                <a:sym typeface="+mn-lt"/>
              </a:rPr>
              <a:t>开发丰富的资源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比较给力的技术支持：谷歌，阿里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sym typeface="+mn-lt"/>
              </a:rPr>
              <a:t>iOS: model </a:t>
            </a:r>
            <a:r>
              <a:rPr lang="zh-CN" altLang="en-US" dirty="0">
                <a:sym typeface="+mn-lt"/>
              </a:rPr>
              <a:t>到 </a:t>
            </a:r>
            <a:r>
              <a:rPr lang="en-US" altLang="zh-CN" dirty="0">
                <a:sym typeface="+mn-lt"/>
              </a:rPr>
              <a:t>UI</a:t>
            </a:r>
            <a:r>
              <a:rPr lang="zh-CN" altLang="en-US" dirty="0">
                <a:sym typeface="+mn-lt"/>
              </a:rPr>
              <a:t>的自动映射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跨平台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430" y="1691005"/>
            <a:ext cx="5279390" cy="46145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sym typeface="+mn-lt"/>
              </a:rPr>
              <a:t>Hot Reload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3200" dirty="0">
                <a:sym typeface="+mn-lt"/>
              </a:rPr>
              <a:t>UI </a:t>
            </a:r>
            <a:r>
              <a:rPr lang="zh-CN" altLang="en-US" sz="3200" dirty="0">
                <a:sym typeface="+mn-lt"/>
              </a:rPr>
              <a:t>修改效果可以立刻更新，无需重启应用</a:t>
            </a: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3200" dirty="0">
                <a:sym typeface="+mn-lt"/>
              </a:rPr>
              <a:t>提升 </a:t>
            </a:r>
            <a:r>
              <a:rPr lang="en-US" altLang="zh-CN" sz="3200" dirty="0">
                <a:sym typeface="+mn-lt"/>
              </a:rPr>
              <a:t>UI </a:t>
            </a:r>
            <a:r>
              <a:rPr lang="zh-CN" altLang="en-US" sz="3200" dirty="0">
                <a:sym typeface="+mn-lt"/>
              </a:rPr>
              <a:t>开发效率</a:t>
            </a:r>
            <a:endParaRPr lang="zh-CN" altLang="en-US" sz="32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有效利用既有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Native</a:t>
            </a:r>
            <a:r>
              <a:rPr lang="zh-CN" altLang="en-US" dirty="0">
                <a:solidFill>
                  <a:schemeClr val="bg1"/>
                </a:solidFill>
                <a:sym typeface="+mn-lt"/>
              </a:rPr>
              <a:t>资源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sym typeface="+mn-lt"/>
              </a:rPr>
              <a:t>plugin</a:t>
            </a:r>
            <a:r>
              <a:rPr lang="zh-CN" altLang="en-US" dirty="0">
                <a:sym typeface="+mn-lt"/>
              </a:rPr>
              <a:t>： 类似</a:t>
            </a:r>
            <a:r>
              <a:rPr lang="en-US" altLang="zh-CN" dirty="0">
                <a:sym typeface="+mn-lt"/>
              </a:rPr>
              <a:t>JavaScritpWebBridge, </a:t>
            </a:r>
            <a:r>
              <a:rPr lang="zh-CN" altLang="en-US" dirty="0">
                <a:sym typeface="+mn-lt"/>
              </a:rPr>
              <a:t>可以和</a:t>
            </a:r>
            <a:r>
              <a:rPr lang="en-US" altLang="zh-CN" dirty="0">
                <a:sym typeface="+mn-lt"/>
              </a:rPr>
              <a:t>Native</a:t>
            </a:r>
            <a:r>
              <a:rPr lang="zh-CN" altLang="en-US" dirty="0">
                <a:sym typeface="+mn-lt"/>
              </a:rPr>
              <a:t>交互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目前支持：网路访问（</a:t>
            </a:r>
            <a:r>
              <a:rPr lang="en-US" altLang="zh-CN" dirty="0">
                <a:sym typeface="+mn-lt"/>
              </a:rPr>
              <a:t>ToB</a:t>
            </a:r>
            <a:r>
              <a:rPr lang="zh-CN" altLang="en-US" dirty="0">
                <a:sym typeface="+mn-lt"/>
              </a:rPr>
              <a:t>），埋点，路由等</a:t>
            </a:r>
            <a:endParaRPr lang="zh-CN" altLang="en-US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ym typeface="+mn-lt"/>
              </a:rPr>
              <a:t>便捷的</a:t>
            </a:r>
            <a:r>
              <a:rPr lang="en-US" altLang="zh-CN" dirty="0">
                <a:sym typeface="+mn-lt"/>
              </a:rPr>
              <a:t>UI</a:t>
            </a:r>
            <a:r>
              <a:rPr lang="zh-CN" altLang="en-US" dirty="0">
                <a:sym typeface="+mn-lt"/>
              </a:rPr>
              <a:t>开发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sym typeface="+mn-lt"/>
              </a:rPr>
              <a:t>iOS </a:t>
            </a:r>
            <a:r>
              <a:rPr lang="zh-CN" altLang="en-US" dirty="0">
                <a:sym typeface="+mn-lt"/>
              </a:rPr>
              <a:t>常规的开发机制</a:t>
            </a:r>
            <a:endParaRPr lang="en-US" altLang="zh-CN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ym typeface="+mn-lt"/>
              </a:rPr>
              <a:t>	Masonry, XIB, Storyboard</a:t>
            </a:r>
            <a:endParaRPr lang="en-US" altLang="zh-CN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ym typeface="+mn-lt"/>
              </a:rPr>
              <a:t>便捷的</a:t>
            </a:r>
            <a:r>
              <a:rPr lang="en-US" altLang="zh-CN" dirty="0">
                <a:sym typeface="+mn-lt"/>
              </a:rPr>
              <a:t>UI</a:t>
            </a:r>
            <a:r>
              <a:rPr lang="zh-CN" altLang="en-US" dirty="0">
                <a:sym typeface="+mn-lt"/>
              </a:rPr>
              <a:t>开发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提供丰富的控制方式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75585"/>
            <a:ext cx="9304020" cy="35128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丰富的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UI </a:t>
            </a:r>
            <a:r>
              <a:rPr lang="zh-CN" altLang="en-US" dirty="0">
                <a:solidFill>
                  <a:schemeClr val="bg1"/>
                </a:solidFill>
                <a:sym typeface="+mn-lt"/>
              </a:rPr>
              <a:t>资源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dirty="0">
                <a:sym typeface="+mn-lt"/>
              </a:rPr>
              <a:t>Flutter  </a:t>
            </a:r>
            <a:r>
              <a:rPr lang="zh-CN" altLang="en-US" sz="2800" dirty="0">
                <a:sym typeface="+mn-lt"/>
              </a:rPr>
              <a:t>提供的原生 </a:t>
            </a:r>
            <a:r>
              <a:rPr lang="en-US" altLang="zh-CN" sz="2800" dirty="0">
                <a:sym typeface="+mn-lt"/>
              </a:rPr>
              <a:t>Widget</a:t>
            </a:r>
            <a:r>
              <a:rPr lang="zh-CN" altLang="en-US" sz="2800" dirty="0">
                <a:sym typeface="+mn-lt"/>
              </a:rPr>
              <a:t>：</a:t>
            </a:r>
            <a:endParaRPr lang="zh-CN" altLang="en-US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dirty="0">
                <a:sym typeface="+mn-lt"/>
              </a:rPr>
              <a:t>https://flutter.dev/docs/development/ui/widgets</a:t>
            </a: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800" dirty="0">
                <a:sym typeface="+mn-lt"/>
              </a:rPr>
              <a:t>实例：</a:t>
            </a: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dirty="0">
                <a:sym typeface="+mn-lt"/>
              </a:rPr>
              <a:t>https://github.com/flutter/flutter/tree/master/examples</a:t>
            </a: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dirty="0">
                <a:sym typeface="+mn-lt"/>
              </a:rPr>
              <a:t>https://github.com/alibaba/flutter-go</a:t>
            </a:r>
            <a:endParaRPr lang="en-US" altLang="zh-CN" sz="28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dirty="0">
                <a:sym typeface="+mn-lt"/>
              </a:rPr>
              <a:t>	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sym typeface="+mn-lt"/>
              </a:rPr>
              <a:t>Google 2019 </a:t>
            </a:r>
            <a:r>
              <a:rPr lang="zh-CN" altLang="en-US" dirty="0">
                <a:solidFill>
                  <a:schemeClr val="bg1"/>
                </a:solidFill>
                <a:sym typeface="+mn-lt"/>
              </a:rPr>
              <a:t>路线图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核心和基础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易用性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生态系统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移动端之外的支持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动态更新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工具链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更多信息</a:t>
            </a:r>
            <a:r>
              <a:rPr lang="en-US" altLang="zh-CN" sz="2000" dirty="0">
                <a:sym typeface="+mn-lt"/>
              </a:rPr>
              <a:t>: </a:t>
            </a:r>
            <a:r>
              <a:rPr lang="en-US" altLang="zh-CN" sz="2000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lt"/>
              </a:rPr>
              <a:t>https://www.oschina.net/news/103715/flutter-2019-roadmap</a:t>
            </a:r>
            <a:endParaRPr lang="en-US" altLang="zh-CN" sz="2000" dirty="0">
              <a:sym typeface="+mn-lt"/>
              <a:hlinkClick r:id="rId3" action="ppaction://hlinkfile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阿里巴巴的支持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Flutter Boost :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ym typeface="+mn-lt"/>
              </a:rPr>
              <a:t>      新一代Flutter-Native混合解决方案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Flutter-Go : 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ym typeface="+mn-lt"/>
              </a:rPr>
              <a:t>    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ym typeface="+mn-lt"/>
              </a:rPr>
              <a:t>    开发者帮助 APP，包含 flutter 常用 140+ 组件的demo 演示与中文文档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ym typeface="+mn-lt"/>
              </a:rPr>
              <a:t>iOS: model </a:t>
            </a:r>
            <a:r>
              <a:rPr lang="zh-CN" altLang="en-US" dirty="0">
                <a:sym typeface="+mn-lt"/>
              </a:rPr>
              <a:t>到 </a:t>
            </a:r>
            <a:r>
              <a:rPr lang="en-US" altLang="zh-CN" dirty="0">
                <a:sym typeface="+mn-lt"/>
              </a:rPr>
              <a:t>UI</a:t>
            </a:r>
            <a:r>
              <a:rPr lang="zh-CN" altLang="en-US" dirty="0">
                <a:sym typeface="+mn-lt"/>
              </a:rPr>
              <a:t>的自动映射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self.tableView reloadData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self.tableView reloadRows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self.nameLable.text = model.name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77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>
                <a:solidFill>
                  <a:schemeClr val="bg1"/>
                </a:solidFill>
                <a:latin typeface="+mn-lt"/>
                <a:ea typeface="+mn-ea"/>
                <a:sym typeface="+mn-lt"/>
              </a:rPr>
              <a:t>3</a:t>
            </a:r>
            <a:endParaRPr lang="en-US" altLang="zh-CN" sz="16600" b="1">
              <a:solidFill>
                <a:schemeClr val="bg1"/>
              </a:solidFill>
              <a:latin typeface="+mn-lt"/>
              <a:ea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快速入门路线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准备工作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环境配置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095" y="1725295"/>
            <a:ext cx="2190699" cy="4552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环境配置</a:t>
            </a:r>
            <a:endParaRPr lang="zh-CN" alt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https://flutter.io/docs/get-started/install/macos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运行命令行 flutter doctor 按照提示的内容，进行配置</a:t>
            </a: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10585"/>
            <a:ext cx="9725660" cy="25869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sym typeface="+mn-lt"/>
              </a:rPr>
              <a:t>IDE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>
                <a:sym typeface="+mn-lt"/>
              </a:rPr>
              <a:t>VSCode : 安装Extension 包括：Dart 和 Flutter  </a:t>
            </a:r>
            <a:endParaRPr lang="zh-CN" altLang="en-US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>
                <a:sym typeface="+mn-lt"/>
              </a:rPr>
              <a:t>Android Studio : 安装Plugin 包括： Dart 和 Flutter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比较靠谱的学习途径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>
                <a:sym typeface="+mn-lt"/>
              </a:rPr>
              <a:t>Youtube Flutter Channel</a:t>
            </a:r>
            <a:endParaRPr lang="en-US" altLang="zh-CN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sym typeface="+mn-lt"/>
              </a:rPr>
              <a:t>Flutter </a:t>
            </a:r>
            <a:r>
              <a:rPr lang="zh-CN" altLang="en-US" dirty="0">
                <a:sym typeface="+mn-lt"/>
              </a:rPr>
              <a:t>各种</a:t>
            </a:r>
            <a:r>
              <a:rPr lang="en-US" altLang="zh-CN" dirty="0">
                <a:sym typeface="+mn-lt"/>
              </a:rPr>
              <a:t>Feature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实时代码视频开发演示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实用的开发技巧</a:t>
            </a:r>
            <a:endParaRPr lang="zh-CN" altLang="en-US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比较靠谱的学习途径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95" y="1502410"/>
            <a:ext cx="7416800" cy="49974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比较靠谱的学习途径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ym typeface="+mn-lt"/>
              </a:rPr>
              <a:t>Flutter Go: flutter 开发者帮助 APP，包含 flutter 常用 140+ 组件的demo 演示与中文文档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>
                <a:sym typeface="+mn-lt"/>
              </a:rPr>
              <a:t>https://github.com/alibaba/flutter-go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</a:t>
            </a: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825" y="2708910"/>
            <a:ext cx="1611630" cy="33502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55" y="2689860"/>
            <a:ext cx="1620210" cy="3369183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77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>
                <a:solidFill>
                  <a:schemeClr val="bg1"/>
                </a:solidFill>
                <a:latin typeface="+mn-lt"/>
                <a:ea typeface="+mn-ea"/>
                <a:sym typeface="+mn-lt"/>
              </a:rPr>
              <a:t>4</a:t>
            </a:r>
            <a:endParaRPr lang="en-US" altLang="zh-CN" sz="16600" b="1">
              <a:solidFill>
                <a:schemeClr val="bg1"/>
              </a:solidFill>
              <a:latin typeface="+mn-lt"/>
              <a:ea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整合当前项目成本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整合原则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接口单一，几乎对当前</a:t>
            </a:r>
            <a:r>
              <a:rPr lang="en-US" altLang="zh-CN" dirty="0">
                <a:sym typeface="+mn-lt"/>
              </a:rPr>
              <a:t>Native</a:t>
            </a:r>
            <a:r>
              <a:rPr lang="zh-CN" altLang="en-US" dirty="0">
                <a:sym typeface="+mn-lt"/>
              </a:rPr>
              <a:t>代码</a:t>
            </a:r>
            <a:r>
              <a:rPr lang="en-US" altLang="zh-CN" dirty="0">
                <a:sym typeface="+mn-lt"/>
              </a:rPr>
              <a:t>0</a:t>
            </a:r>
            <a:r>
              <a:rPr lang="zh-CN" altLang="en-US" dirty="0">
                <a:sym typeface="+mn-lt"/>
              </a:rPr>
              <a:t>污染 </a:t>
            </a: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黑盒：</a:t>
            </a:r>
            <a:r>
              <a:rPr lang="en-US" altLang="zh-CN" dirty="0">
                <a:sym typeface="+mn-lt"/>
              </a:rPr>
              <a:t>Flutter</a:t>
            </a:r>
            <a:r>
              <a:rPr lang="zh-CN" altLang="en-US" dirty="0">
                <a:sym typeface="+mn-lt"/>
              </a:rPr>
              <a:t>相关部分通过</a:t>
            </a:r>
            <a:r>
              <a:rPr lang="en-US" altLang="zh-CN" dirty="0">
                <a:sym typeface="+mn-lt"/>
              </a:rPr>
              <a:t>Podfile</a:t>
            </a:r>
            <a:r>
              <a:rPr lang="zh-CN" altLang="en-US" dirty="0">
                <a:sym typeface="+mn-lt"/>
              </a:rPr>
              <a:t>引入</a:t>
            </a:r>
            <a:endParaRPr lang="en-US" altLang="zh-CN" dirty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整合原则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zh-CN" altLang="en-US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85" y="47625"/>
            <a:ext cx="9343868" cy="67627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>
                <a:sym typeface="+mn-lt"/>
              </a:rPr>
              <a:t>谢谢观赏</a:t>
            </a:r>
            <a:endParaRPr lang="zh-CN" altLang="en-US"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2961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2961"/>
</p:tagLst>
</file>

<file path=ppt/tags/tag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TEMPLATE_THUMBS_INDEX" val="1、9、12、17、19、22"/>
</p:tagLst>
</file>

<file path=ppt/tags/tag4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*a*1"/>
  <p:tag name="KSO_WM_UNIT_LAYERLEVEL" val="1"/>
  <p:tag name="KSO_WM_UNIT_VALUE" val="11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星空系列PPT"/>
</p:tagLst>
</file>

<file path=ppt/tags/tag5.xml><?xml version="1.0" encoding="utf-8"?>
<p:tagLst xmlns:p="http://schemas.openxmlformats.org/presentationml/2006/main">
  <p:tag name="KSO_WM_TEMPLATE_CATEGORY" val="custom"/>
  <p:tag name="KSO_WM_TEMPLATE_INDEX" val="20182961"/>
  <p:tag name="KSO_WM_UNIT_TYPE" val="b"/>
  <p:tag name="KSO_WM_UNIT_INDEX" val="1"/>
  <p:tag name="KSO_WM_UNIT_ID" val="custom20182961_1*b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闪耀星空"/>
</p:tagLst>
</file>

<file path=ppt/tags/tag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TEMPLATE_THUMBS_INDEX" val="1、9、12、17、19、22、"/>
</p:tagLst>
</file>

<file path=ppt/tags/tag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TYPE" val="a"/>
  <p:tag name="KSO_WM_UNIT_INDEX" val="1"/>
  <p:tag name="KSO_WM_UNIT_CLEAR" val="1"/>
  <p:tag name="KSO_WM_UNIT_LAYERLEVEL" val="1"/>
  <p:tag name="KSO_WM_UNIT_ISCONTENTSTITLE" val="1"/>
  <p:tag name="KSO_WM_UNIT_VALUE" val="9"/>
  <p:tag name="KSO_WM_UNIT_HIGHLIGHT" val="0"/>
  <p:tag name="KSO_WM_UNIT_COMPATIBLE" val="0"/>
  <p:tag name="KSO_WM_DIAGRAM_GROUP_CODE" val="l1_1"/>
  <p:tag name="KSO_WM_UNIT_ID" val="custom20182961_6*a*1"/>
  <p:tag name="KSO_WM_UNIT_PRESET_TEXT" val="CONTENTS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2961_6*i*1"/>
  <p:tag name="KSO_WM_TEMPLATE_CATEGORY" val="custom"/>
  <p:tag name="KSO_WM_TEMPLATE_INDEX" val="20182961"/>
  <p:tag name="KSO_WM_UNIT_INDEX" val="1"/>
</p:tagLst>
</file>

<file path=ppt/tags/tag9.xml><?xml version="1.0" encoding="utf-8"?>
<p:tagLst xmlns:p="http://schemas.openxmlformats.org/presentationml/2006/main">
  <p:tag name="KSO_WM_TEMPLATE_CATEGORY" val="custom"/>
  <p:tag name="KSO_WM_TEMPLATE_INDEX" val="20182961"/>
  <p:tag name="KSO_WM_UNIT_CLEAR" val="1"/>
  <p:tag name="KSO_WM_TAG_VERSION" val="1.0"/>
  <p:tag name="KSO_WM_BEAUTIFY_FLAG" val="#wm#"/>
  <p:tag name="KSO_WM_UNIT_TYPE" val="l_h_i"/>
  <p:tag name="KSO_WM_UNIT_INDEX" val="1_1_1"/>
  <p:tag name="KSO_WM_UNIT_ID" val="custom20182961_6*l_h_i*1_1_1"/>
  <p:tag name="KSO_WM_UNIT_LAYERLEVEL" val="1_1_1"/>
  <p:tag name="KSO_WM_DIAGRAM_GROUP_CODE" val="l1-1"/>
</p:tagLst>
</file>

<file path=ppt/tags/tag10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TYPE" val="l_h_f"/>
  <p:tag name="KSO_WM_UNIT_INDEX" val="1_1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ID" val="custom20182961_6*l_h_f*1_1_1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2961_6*i*1"/>
  <p:tag name="KSO_WM_TEMPLATE_CATEGORY" val="custom"/>
  <p:tag name="KSO_WM_TEMPLATE_INDEX" val="20182961"/>
  <p:tag name="KSO_WM_UNIT_INDEX" val="1"/>
</p:tagLst>
</file>

<file path=ppt/tags/tag12.xml><?xml version="1.0" encoding="utf-8"?>
<p:tagLst xmlns:p="http://schemas.openxmlformats.org/presentationml/2006/main">
  <p:tag name="KSO_WM_TEMPLATE_CATEGORY" val="custom"/>
  <p:tag name="KSO_WM_TEMPLATE_INDEX" val="20182961"/>
  <p:tag name="KSO_WM_UNIT_CLEAR" val="1"/>
  <p:tag name="KSO_WM_TAG_VERSION" val="1.0"/>
  <p:tag name="KSO_WM_BEAUTIFY_FLAG" val="#wm#"/>
  <p:tag name="KSO_WM_UNIT_TYPE" val="l_h_i"/>
  <p:tag name="KSO_WM_UNIT_INDEX" val="1_1_1"/>
  <p:tag name="KSO_WM_UNIT_ID" val="custom20182961_6*l_h_i*1_1_1"/>
  <p:tag name="KSO_WM_UNIT_LAYERLEVEL" val="1_1_1"/>
  <p:tag name="KSO_WM_DIAGRAM_GROUP_CODE" val="l1-1"/>
</p:tagLst>
</file>

<file path=ppt/tags/tag1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TYPE" val="l_h_f"/>
  <p:tag name="KSO_WM_UNIT_INDEX" val="1_1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ID" val="custom20182961_6*l_h_f*1_1_1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2961_6*i*1"/>
  <p:tag name="KSO_WM_TEMPLATE_CATEGORY" val="custom"/>
  <p:tag name="KSO_WM_TEMPLATE_INDEX" val="20182961"/>
  <p:tag name="KSO_WM_UNIT_INDEX" val="1"/>
</p:tagLst>
</file>

<file path=ppt/tags/tag15.xml><?xml version="1.0" encoding="utf-8"?>
<p:tagLst xmlns:p="http://schemas.openxmlformats.org/presentationml/2006/main">
  <p:tag name="KSO_WM_TEMPLATE_CATEGORY" val="custom"/>
  <p:tag name="KSO_WM_TEMPLATE_INDEX" val="20182961"/>
  <p:tag name="KSO_WM_UNIT_CLEAR" val="1"/>
  <p:tag name="KSO_WM_TAG_VERSION" val="1.0"/>
  <p:tag name="KSO_WM_BEAUTIFY_FLAG" val="#wm#"/>
  <p:tag name="KSO_WM_UNIT_TYPE" val="l_h_i"/>
  <p:tag name="KSO_WM_UNIT_INDEX" val="1_1_1"/>
  <p:tag name="KSO_WM_UNIT_ID" val="custom20182961_6*l_h_i*1_1_1"/>
  <p:tag name="KSO_WM_UNIT_LAYERLEVEL" val="1_1_1"/>
  <p:tag name="KSO_WM_DIAGRAM_GROUP_CODE" val="l1-1"/>
</p:tagLst>
</file>

<file path=ppt/tags/tag1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TYPE" val="l_h_f"/>
  <p:tag name="KSO_WM_UNIT_INDEX" val="1_1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ID" val="custom20182961_6*l_h_f*1_1_1"/>
</p:tagLst>
</file>

<file path=ppt/tags/tag17.xml><?xml version="1.0" encoding="utf-8"?>
<p:tagLst xmlns:p="http://schemas.openxmlformats.org/presentationml/2006/main">
  <p:tag name="KSO_WM_TEMPLATE_CATEGORY" val="custom"/>
  <p:tag name="KSO_WM_TEMPLATE_INDEX" val="20182961"/>
  <p:tag name="KSO_WM_UNIT_CLEAR" val="1"/>
  <p:tag name="KSO_WM_TAG_VERSION" val="1.0"/>
  <p:tag name="KSO_WM_BEAUTIFY_FLAG" val="#wm#"/>
  <p:tag name="KSO_WM_UNIT_TYPE" val="l_h_i"/>
  <p:tag name="KSO_WM_UNIT_INDEX" val="1_1_1"/>
  <p:tag name="KSO_WM_UNIT_ID" val="custom20182961_6*l_h_i*1_1_1"/>
  <p:tag name="KSO_WM_UNIT_LAYERLEVEL" val="1_1_1"/>
  <p:tag name="KSO_WM_DIAGRAM_GROUP_CODE" val="l1-1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2961_6*i*1"/>
  <p:tag name="KSO_WM_TEMPLATE_CATEGORY" val="custom"/>
  <p:tag name="KSO_WM_TEMPLATE_INDEX" val="20182961"/>
  <p:tag name="KSO_WM_UNIT_INDEX" val="1"/>
</p:tagLst>
</file>

<file path=ppt/tags/tag19.xml><?xml version="1.0" encoding="utf-8"?>
<p:tagLst xmlns:p="http://schemas.openxmlformats.org/presentationml/2006/main">
  <p:tag name="KSO_WM_TEMPLATE_CATEGORY" val="custom"/>
  <p:tag name="KSO_WM_TEMPLATE_INDEX" val="20182961"/>
  <p:tag name="KSO_WM_UNIT_CLEAR" val="1"/>
  <p:tag name="KSO_WM_TAG_VERSION" val="1.0"/>
  <p:tag name="KSO_WM_BEAUTIFY_FLAG" val="#wm#"/>
  <p:tag name="KSO_WM_UNIT_TYPE" val="l_h_i"/>
  <p:tag name="KSO_WM_UNIT_INDEX" val="1_1_1"/>
  <p:tag name="KSO_WM_UNIT_ID" val="custom20182961_6*l_h_i*1_1_1"/>
  <p:tag name="KSO_WM_UNIT_LAYERLEVEL" val="1_1_1"/>
  <p:tag name="KSO_WM_DIAGRAM_GROUP_CODE" val="l1-1"/>
</p:tagLst>
</file>

<file path=ppt/tags/tag20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TYPE" val="l_h_f"/>
  <p:tag name="KSO_WM_UNIT_INDEX" val="1_1_1"/>
  <p:tag name="KSO_WM_UNIT_CLEAR" val="1"/>
  <p:tag name="KSO_WM_UNIT_LAYERLEVEL" val="1_1_1"/>
  <p:tag name="KSO_WM_UNIT_VALUE" val="12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ID" val="custom20182961_6*l_h_f*1_1_1"/>
</p:tagLst>
</file>

<file path=ppt/tags/tag21.xml><?xml version="1.0" encoding="utf-8"?>
<p:tagLst xmlns:p="http://schemas.openxmlformats.org/presentationml/2006/main">
  <p:tag name="KSO_WM_TAG_VERSION" val="1.0"/>
  <p:tag name="KSO_WM_SLIDE_ITEM_CNT" val="1"/>
  <p:tag name="KSO_WM_SLIDE_LAYOUT" val="a_l"/>
  <p:tag name="KSO_WM_SLIDE_LAYOUT_CNT" val="1_1"/>
  <p:tag name="KSO_WM_SLIDE_TYPE" val="contents"/>
  <p:tag name="KSO_WM_BEAUTIFY_FLAG" val="#wm#"/>
  <p:tag name="KSO_WM_TEMPLATE_CATEGORY" val="custom"/>
  <p:tag name="KSO_WM_TEMPLATE_INDEX" val="20182961"/>
  <p:tag name="KSO_WM_SLIDE_ID" val="custom20182961_6"/>
  <p:tag name="KSO_WM_SLIDE_INDEX" val="6"/>
  <p:tag name="KSO_WM_DIAGRAM_GROUP_CODE" val="l1-1"/>
  <p:tag name="KSO_WM_TEMPLATE_THUMBS_INDEX" val="1、2、3、4、5、6"/>
</p:tagLst>
</file>

<file path=ppt/tags/tag22.xml><?xml version="1.0" encoding="utf-8"?>
<p:tagLst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23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2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25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2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27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2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29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0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31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32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3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3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5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36.xml><?xml version="1.0" encoding="utf-8"?>
<p:tagLst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37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3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39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40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41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2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4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44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5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4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47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49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50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51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52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53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5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55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56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5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5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59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60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61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62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6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6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65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6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6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68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69.xml><?xml version="1.0" encoding="utf-8"?>
<p:tagLst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70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71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72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7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74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75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7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77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7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79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80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81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82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83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8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85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86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8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88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89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90.xml><?xml version="1.0" encoding="utf-8"?>
<p:tagLst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91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92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93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94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95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96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97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98.xml><?xml version="1.0" encoding="utf-8"?>
<p:tagLst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99.xml><?xml version="1.0" encoding="utf-8"?>
<p:tagLst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22*a*1"/>
  <p:tag name="KSO_WM_UNIT_LAYERLEVEL" val="1"/>
  <p:tag name="KSO_WM_UNIT_VALUE" val="6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谢谢观赏"/>
</p:tagLst>
</file>

<file path=ppt/tags/tag100.xml><?xml version="1.0" encoding="utf-8"?>
<p:tagLst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22"/>
  <p:tag name="KSO_WM_SLIDE_INDEX" val="22"/>
  <p:tag name="KSO_WM_SLIDE_ITEM_CNT" val="1"/>
  <p:tag name="KSO_WM_SLIDE_LAYOUT" val="a"/>
  <p:tag name="KSO_WM_SLIDE_LAYOUT_CNT" val="1"/>
  <p:tag name="KSO_WM_SLIDE_TYPE" val="endPage"/>
  <p:tag name="KSO_WM_BEAUTIFY_FLAG" val="#wm#"/>
</p:tagLst>
</file>

<file path=ppt/theme/theme1.xml><?xml version="1.0" encoding="utf-8"?>
<a:theme xmlns:a="http://schemas.openxmlformats.org/drawingml/2006/main" name="1_Office 主题​​">
  <a:themeElements>
    <a:clrScheme name="自定义 26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D4D4D"/>
      </a:accent1>
      <a:accent2>
        <a:srgbClr val="5F5F5F"/>
      </a:accent2>
      <a:accent3>
        <a:srgbClr val="808080"/>
      </a:accent3>
      <a:accent4>
        <a:srgbClr val="969696"/>
      </a:accent4>
      <a:accent5>
        <a:srgbClr val="B2B2B2"/>
      </a:accent5>
      <a:accent6>
        <a:srgbClr val="FFFFFF"/>
      </a:accent6>
      <a:hlink>
        <a:srgbClr val="4D4D4D"/>
      </a:hlink>
      <a:folHlink>
        <a:srgbClr val="BFBFBF"/>
      </a:folHlink>
    </a:clrScheme>
    <a:fontScheme name="0roircou">
      <a:majorFont>
        <a:latin typeface="Arial"/>
        <a:ea typeface="SimHei"/>
        <a:cs typeface=""/>
      </a:majorFont>
      <a:minorFont>
        <a:latin typeface="Arial"/>
        <a:ea typeface="Sim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1528</Words>
  <Application>WPS 文字</Application>
  <PresentationFormat>宽屏</PresentationFormat>
  <Paragraphs>263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Arial</vt:lpstr>
      <vt:lpstr>方正书宋_GBK</vt:lpstr>
      <vt:lpstr>Wingdings</vt:lpstr>
      <vt:lpstr>宋体</vt:lpstr>
      <vt:lpstr>Calibri</vt:lpstr>
      <vt:lpstr>微软雅黑</vt:lpstr>
      <vt:lpstr>Helvetica Neue</vt:lpstr>
      <vt:lpstr>SimHei</vt:lpstr>
      <vt:lpstr>HYZhongHeiKW</vt:lpstr>
      <vt:lpstr>HYQiHeiKW</vt:lpstr>
      <vt:lpstr>宋体</vt:lpstr>
      <vt:lpstr>Arial Unicode MS</vt:lpstr>
      <vt:lpstr>HYShuSongErKW</vt:lpstr>
      <vt:lpstr>1_Office 主题​​</vt:lpstr>
      <vt:lpstr>iOS 顾吉涛</vt:lpstr>
      <vt:lpstr>PowerPoint 演示文稿</vt:lpstr>
      <vt:lpstr>直观  Flutter </vt:lpstr>
      <vt:lpstr>Flutter 简介 </vt:lpstr>
      <vt:lpstr>区别 </vt:lpstr>
      <vt:lpstr>目前的应用</vt:lpstr>
      <vt:lpstr>闲鱼 </vt:lpstr>
      <vt:lpstr>对比Native 优势（iOS） </vt:lpstr>
      <vt:lpstr>对比 Native 优势 </vt:lpstr>
      <vt:lpstr>跨平台 </vt:lpstr>
      <vt:lpstr>Hot Reload </vt:lpstr>
      <vt:lpstr>有效利用既有Native资源 </vt:lpstr>
      <vt:lpstr>便捷的UI开发 </vt:lpstr>
      <vt:lpstr>便捷的UI开发 </vt:lpstr>
      <vt:lpstr>丰富的UI 资源 </vt:lpstr>
      <vt:lpstr>Google 2019 路线图 </vt:lpstr>
      <vt:lpstr>阿里巴巴的支持 </vt:lpstr>
      <vt:lpstr>iOS: model 到 UI的自动映射</vt:lpstr>
      <vt:lpstr>快速入门路线 </vt:lpstr>
      <vt:lpstr>准备工作</vt:lpstr>
      <vt:lpstr>环境配置</vt:lpstr>
      <vt:lpstr>IDE</vt:lpstr>
      <vt:lpstr>比较靠谱的学习途径 </vt:lpstr>
      <vt:lpstr>比较靠谱的学习途径 </vt:lpstr>
      <vt:lpstr>比较靠谱的学习途径 </vt:lpstr>
      <vt:lpstr>整合当前项目成本 </vt:lpstr>
      <vt:lpstr>整合原则 </vt:lpstr>
      <vt:lpstr>整合原则 </vt:lpstr>
      <vt:lpstr>谢谢观赏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lianjia</cp:lastModifiedBy>
  <cp:revision>41</cp:revision>
  <dcterms:created xsi:type="dcterms:W3CDTF">2019-04-08T02:57:33Z</dcterms:created>
  <dcterms:modified xsi:type="dcterms:W3CDTF">2019-04-08T02:57:33Z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2052-2.5.0.931</vt:lpwstr>
  </property>
</Properties>
</file>
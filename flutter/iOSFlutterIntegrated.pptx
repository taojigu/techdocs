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637" r:id="rId5"/>
    <p:sldId id="312" r:id="rId6"/>
    <p:sldId id="639" r:id="rId7"/>
    <p:sldId id="645" r:id="rId8"/>
    <p:sldId id="638" r:id="rId9"/>
    <p:sldId id="313" r:id="rId10"/>
    <p:sldId id="646" r:id="rId11"/>
    <p:sldId id="620" r:id="rId12"/>
    <p:sldId id="642" r:id="rId13"/>
    <p:sldId id="648" r:id="rId14"/>
    <p:sldId id="644" r:id="rId15"/>
    <p:sldId id="651" r:id="rId16"/>
    <p:sldId id="640" r:id="rId17"/>
    <p:sldId id="653" r:id="rId18"/>
    <p:sldId id="315" r:id="rId19"/>
    <p:sldId id="631" r:id="rId20"/>
    <p:sldId id="622" r:id="rId21"/>
    <p:sldId id="664" r:id="rId22"/>
    <p:sldId id="650" r:id="rId23"/>
    <p:sldId id="659" r:id="rId24"/>
    <p:sldId id="663" r:id="rId25"/>
    <p:sldId id="662" r:id="rId26"/>
    <p:sldId id="666" r:id="rId27"/>
    <p:sldId id="667" r:id="rId28"/>
    <p:sldId id="668" r:id="rId29"/>
    <p:sldId id="669" r:id="rId30"/>
    <p:sldId id="670" r:id="rId31"/>
    <p:sldId id="671" r:id="rId32"/>
    <p:sldId id="635" r:id="rId33"/>
    <p:sldId id="634" r:id="rId34"/>
    <p:sldId id="673" r:id="rId35"/>
    <p:sldId id="674" r:id="rId36"/>
    <p:sldId id="675" r:id="rId37"/>
    <p:sldId id="677" r:id="rId38"/>
    <p:sldId id="676" r:id="rId39"/>
    <p:sldId id="678" r:id="rId40"/>
    <p:sldId id="679" r:id="rId41"/>
    <p:sldId id="680" r:id="rId42"/>
    <p:sldId id="484" r:id="rId43"/>
    <p:sldId id="310" r:id="rId4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5858515" y="1567132"/>
            <a:ext cx="544648" cy="532533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1524000" y="735877"/>
            <a:ext cx="728663" cy="728662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178" y="1224721"/>
            <a:ext cx="1357984" cy="135798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178" y="677414"/>
            <a:ext cx="381368" cy="38136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445" y="1997556"/>
            <a:ext cx="464095" cy="4640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92" y="301695"/>
            <a:ext cx="868363" cy="86836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978" y="1785187"/>
            <a:ext cx="381368" cy="3813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3765008"/>
            <a:ext cx="9144000" cy="1506573"/>
          </a:xfrm>
        </p:spPr>
        <p:txBody>
          <a:bodyPr anchor="t">
            <a:normAutofit/>
          </a:bodyPr>
          <a:lstStyle>
            <a:lvl1pPr algn="ctr">
              <a:defRPr sz="6600" b="1"/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340639"/>
            <a:ext cx="9144000" cy="1298594"/>
          </a:xfrm>
        </p:spPr>
        <p:txBody>
          <a:bodyPr anchor="b">
            <a:normAutofit/>
          </a:bodyPr>
          <a:lstStyle>
            <a:lvl1pPr marL="0" indent="0" algn="ctr">
              <a:buNone/>
              <a:defRPr sz="6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直接连接符 27"/>
          <p:cNvSpPr>
            <a:spLocks noChangeShapeType="1"/>
          </p:cNvSpPr>
          <p:nvPr/>
        </p:nvSpPr>
        <p:spPr bwMode="auto">
          <a:xfrm>
            <a:off x="1960654" y="5271581"/>
            <a:ext cx="8270692" cy="6461"/>
          </a:xfrm>
          <a:prstGeom prst="line">
            <a:avLst/>
          </a:prstGeom>
          <a:noFill/>
          <a:ln w="6350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Oval 5"/>
          <p:cNvSpPr>
            <a:spLocks noChangeArrowheads="1"/>
          </p:cNvSpPr>
          <p:nvPr/>
        </p:nvSpPr>
        <p:spPr bwMode="auto">
          <a:xfrm>
            <a:off x="10156866" y="527720"/>
            <a:ext cx="392248" cy="381368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877771"/>
            <a:ext cx="10515600" cy="1334486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59783">
            <a:off x="3711374" y="825374"/>
            <a:ext cx="1461459" cy="14614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038600" y="2450529"/>
            <a:ext cx="4114799" cy="1692165"/>
          </a:xfrm>
        </p:spPr>
        <p:txBody>
          <a:bodyPr>
            <a:normAutofit/>
          </a:bodyPr>
          <a:lstStyle>
            <a:lvl1pPr algn="ctr">
              <a:defRPr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4038600" y="2450529"/>
            <a:ext cx="4114801" cy="169216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26848">
            <a:off x="3668213" y="3421562"/>
            <a:ext cx="1056038" cy="1062464"/>
          </a:xfrm>
          <a:prstGeom prst="rect">
            <a:avLst/>
          </a:prstGeom>
        </p:spPr>
      </p:pic>
      <p:sp>
        <p:nvSpPr>
          <p:cNvPr id="22" name="Oval 12"/>
          <p:cNvSpPr>
            <a:spLocks noChangeArrowheads="1"/>
          </p:cNvSpPr>
          <p:nvPr/>
        </p:nvSpPr>
        <p:spPr bwMode="auto">
          <a:xfrm>
            <a:off x="8424589" y="2062092"/>
            <a:ext cx="359526" cy="365125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23" name="Oval 12"/>
          <p:cNvSpPr>
            <a:spLocks noChangeArrowheads="1"/>
          </p:cNvSpPr>
          <p:nvPr/>
        </p:nvSpPr>
        <p:spPr bwMode="auto">
          <a:xfrm>
            <a:off x="8978462" y="2743109"/>
            <a:ext cx="733097" cy="728662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222" y="1734030"/>
            <a:ext cx="466919" cy="46409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098" y="3385911"/>
            <a:ext cx="805385" cy="800514"/>
          </a:xfrm>
          <a:prstGeom prst="rect">
            <a:avLst/>
          </a:prstGeom>
        </p:spPr>
      </p:pic>
      <p:sp>
        <p:nvSpPr>
          <p:cNvPr id="26" name="星形: 四角 25"/>
          <p:cNvSpPr/>
          <p:nvPr/>
        </p:nvSpPr>
        <p:spPr>
          <a:xfrm rot="20186560">
            <a:off x="8990836" y="2033373"/>
            <a:ext cx="466919" cy="514055"/>
          </a:xfrm>
          <a:prstGeom prst="star4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626" y="1415274"/>
            <a:ext cx="952498" cy="946737"/>
          </a:xfrm>
          <a:prstGeom prst="rect">
            <a:avLst/>
          </a:prstGeom>
        </p:spPr>
      </p:pic>
      <p:sp>
        <p:nvSpPr>
          <p:cNvPr id="28" name="Freeform 14"/>
          <p:cNvSpPr>
            <a:spLocks noChangeArrowheads="1"/>
          </p:cNvSpPr>
          <p:nvPr/>
        </p:nvSpPr>
        <p:spPr bwMode="auto">
          <a:xfrm rot="20348132" flipH="1">
            <a:off x="7926453" y="3219521"/>
            <a:ext cx="45719" cy="159845"/>
          </a:xfrm>
          <a:custGeom>
            <a:avLst/>
            <a:gdLst>
              <a:gd name="T0" fmla="*/ 63011844 w 1"/>
              <a:gd name="T1" fmla="*/ 1467301888 h 13"/>
              <a:gd name="T2" fmla="*/ 0 w 1"/>
              <a:gd name="T3" fmla="*/ 0 h 13"/>
              <a:gd name="T4" fmla="*/ 0 60000 65536"/>
              <a:gd name="T5" fmla="*/ 0 60000 65536"/>
              <a:gd name="T6" fmla="*/ 0 w 1"/>
              <a:gd name="T7" fmla="*/ 0 h 13"/>
              <a:gd name="T8" fmla="*/ 1 w 1"/>
              <a:gd name="T9" fmla="*/ 13 h 1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3">
                <a:moveTo>
                  <a:pt x="1" y="13"/>
                </a:moveTo>
                <a:cubicBezTo>
                  <a:pt x="0" y="9"/>
                  <a:pt x="0" y="4"/>
                  <a:pt x="0" y="0"/>
                </a:cubicBezTo>
              </a:path>
            </a:pathLst>
          </a:custGeom>
          <a:noFill/>
          <a:ln w="60325" cap="rnd" cmpd="sng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Freeform 15"/>
          <p:cNvSpPr>
            <a:spLocks noChangeArrowheads="1"/>
          </p:cNvSpPr>
          <p:nvPr/>
        </p:nvSpPr>
        <p:spPr bwMode="auto">
          <a:xfrm rot="20695216" flipH="1">
            <a:off x="7585238" y="2584257"/>
            <a:ext cx="254236" cy="494990"/>
          </a:xfrm>
          <a:custGeom>
            <a:avLst/>
            <a:gdLst>
              <a:gd name="T0" fmla="*/ 0 w 58"/>
              <a:gd name="T1" fmla="*/ 2147483647 h 55"/>
              <a:gd name="T2" fmla="*/ 2147483647 w 58"/>
              <a:gd name="T3" fmla="*/ 0 h 55"/>
              <a:gd name="T4" fmla="*/ 0 60000 65536"/>
              <a:gd name="T5" fmla="*/ 0 60000 65536"/>
              <a:gd name="T6" fmla="*/ 0 w 58"/>
              <a:gd name="T7" fmla="*/ 0 h 55"/>
              <a:gd name="T8" fmla="*/ 58 w 58"/>
              <a:gd name="T9" fmla="*/ 55 h 5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" h="55">
                <a:moveTo>
                  <a:pt x="0" y="55"/>
                </a:moveTo>
                <a:cubicBezTo>
                  <a:pt x="10" y="29"/>
                  <a:pt x="31" y="9"/>
                  <a:pt x="58" y="0"/>
                </a:cubicBezTo>
              </a:path>
            </a:pathLst>
          </a:custGeom>
          <a:noFill/>
          <a:ln w="60325" cap="rnd" cmpd="sng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6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.xml"/><Relationship Id="rId3" Type="http://schemas.openxmlformats.org/officeDocument/2006/relationships/hyperlink" Target="http://gerrit.lianjia.com/#/admin/projects/mobile_ios/lianjia_im" TargetMode="Externa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.xml"/><Relationship Id="rId3" Type="http://schemas.openxmlformats.org/officeDocument/2006/relationships/image" Target="../media/image7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2.xml"/><Relationship Id="rId3" Type="http://schemas.openxmlformats.org/officeDocument/2006/relationships/image" Target="../media/image8.png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5.xml"/><Relationship Id="rId3" Type="http://schemas.openxmlformats.org/officeDocument/2006/relationships/image" Target="../media/image9.png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8.xml"/><Relationship Id="rId3" Type="http://schemas.openxmlformats.org/officeDocument/2006/relationships/hyperlink" Target="https://github.com/flutter/plugins/tree/master/packages/device_info" TargetMode="Externa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0.xml"/><Relationship Id="rId2" Type="http://schemas.openxmlformats.org/officeDocument/2006/relationships/image" Target="../media/image10.png"/><Relationship Id="rId1" Type="http://schemas.openxmlformats.org/officeDocument/2006/relationships/tags" Target="../tags/tag49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9.xml"/><Relationship Id="rId3" Type="http://schemas.openxmlformats.org/officeDocument/2006/relationships/image" Target="../media/image8.png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hyperlink" Target="http://artifactory.intra.ke.com/artifactory/ke-test-repository/flutter_im_portal/ios/second_rent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hyperlink" Target="http://ci.lianjia.com/job/mobileqa/job/SecondHandLink/view/mobile_pack_NEW/job/mobileqa-secondHandLink-IOS-Dev-NEW/build?delay=0sec" TargetMode="External"/><Relationship Id="rId1" Type="http://schemas.openxmlformats.org/officeDocument/2006/relationships/hyperlink" Target="http://ci.lianjia.com/job/RD/job/flutter_im_portal_iOS_i/build?delay=0sec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hyperlink" Target="http://artifactory.intra.ke.com/artifactory/webapp/#/artifacts/browse/tree/General/ke-test-repository/flutter_im_porta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image" Target="../media/image10.png"/><Relationship Id="rId1" Type="http://schemas.openxmlformats.org/officeDocument/2006/relationships/tags" Target="../tags/tag83.xml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Relationship Id="rId3" Type="http://schemas.openxmlformats.org/officeDocument/2006/relationships/hyperlink" Target="https://www.oschina.net/news/103715/flutter-2019-roadmap" TargetMode="Externa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4400">
                <a:sym typeface="+mn-lt"/>
              </a:rPr>
              <a:t>人店平台</a:t>
            </a:r>
            <a:r>
              <a:rPr lang="zh-CN" altLang="en-US" sz="4400">
                <a:sym typeface="+mn-lt"/>
              </a:rPr>
              <a:t> 顾吉涛（</a:t>
            </a:r>
            <a:r>
              <a:rPr lang="en-US" altLang="zh-CN" sz="4400">
                <a:sym typeface="+mn-lt"/>
              </a:rPr>
              <a:t>iOS</a:t>
            </a:r>
            <a:r>
              <a:rPr lang="zh-CN" altLang="en-US" sz="4400">
                <a:sym typeface="+mn-lt"/>
              </a:rPr>
              <a:t>）</a:t>
            </a:r>
            <a:endParaRPr lang="zh-CN" altLang="en-US" sz="4400">
              <a:sym typeface="+mn-lt"/>
            </a:endParaRPr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>
                <a:sym typeface="+mn-lt"/>
              </a:rPr>
              <a:t>Flutter </a:t>
            </a:r>
            <a:r>
              <a:rPr lang="zh-CN" altLang="en-US">
                <a:sym typeface="+mn-lt"/>
              </a:rPr>
              <a:t>在 </a:t>
            </a:r>
            <a:r>
              <a:rPr lang="en-US" altLang="zh-CN">
                <a:sym typeface="+mn-lt"/>
              </a:rPr>
              <a:t>iOS </a:t>
            </a:r>
            <a:r>
              <a:rPr lang="zh-CN" altLang="en-US">
                <a:sym typeface="+mn-lt"/>
              </a:rPr>
              <a:t>的集成开发</a:t>
            </a:r>
            <a:endParaRPr lang="zh-CN" altLang="en-US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提纲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AutoNum type="arabicPeriod"/>
            </a:pPr>
            <a:r>
              <a:rPr lang="zh-CN" altLang="en-US" sz="3200" dirty="0">
                <a:sym typeface="+mn-lt"/>
              </a:rPr>
              <a:t>预期目标</a:t>
            </a:r>
            <a:endParaRPr lang="en-US" altLang="zh-CN" sz="3200" dirty="0">
              <a:sym typeface="+mn-lt"/>
            </a:endParaRP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AutoNum type="arabicPeriod"/>
            </a:pPr>
            <a:endParaRPr lang="en-US" altLang="zh-CN" sz="3200" dirty="0">
              <a:sym typeface="+mn-lt"/>
            </a:endParaRP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AutoNum type="arabicPeriod"/>
            </a:pPr>
            <a:r>
              <a:rPr lang="zh-CN" altLang="en-US" sz="3200" dirty="0">
                <a:sym typeface="+mn-lt"/>
              </a:rPr>
              <a:t>系统组成</a:t>
            </a:r>
            <a:endParaRPr lang="zh-CN" altLang="en-US" sz="3200" dirty="0">
              <a:sym typeface="+mn-lt"/>
            </a:endParaRP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AutoNum type="arabicPeriod"/>
            </a:pPr>
            <a:endParaRPr lang="zh-CN" altLang="en-US" sz="3200" dirty="0">
              <a:sym typeface="+mn-lt"/>
            </a:endParaRP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AutoNum type="arabicPeriod"/>
            </a:pPr>
            <a:r>
              <a:rPr lang="zh-CN" altLang="en-US" sz="3200" dirty="0">
                <a:sym typeface="+mn-lt"/>
              </a:rPr>
              <a:t>操作流程</a:t>
            </a:r>
            <a:endParaRPr lang="en-US" altLang="zh-CN" sz="3200" dirty="0">
              <a:sym typeface="+mn-lt"/>
            </a:endParaRP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AutoNum type="arabicPeriod"/>
            </a:pPr>
            <a:endParaRPr lang="en-US" altLang="zh-CN" sz="3200" dirty="0">
              <a:sym typeface="+mn-lt"/>
            </a:endParaRP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AutoNum type="arabicPeriod"/>
            </a:pPr>
            <a:r>
              <a:rPr lang="zh-CN" altLang="en-US" sz="3200" dirty="0">
                <a:sym typeface="+mn-lt"/>
              </a:rPr>
              <a:t>操作细节</a:t>
            </a: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：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775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>
                <a:solidFill>
                  <a:schemeClr val="bg1"/>
                </a:solidFill>
                <a:latin typeface="+mn-lt"/>
                <a:ea typeface="+mn-ea"/>
                <a:sym typeface="+mn-lt"/>
              </a:rPr>
              <a:t>1</a:t>
            </a:r>
            <a:endParaRPr lang="en-US" altLang="zh-CN" sz="16600" b="1">
              <a:solidFill>
                <a:schemeClr val="bg1"/>
              </a:solidFill>
              <a:latin typeface="+mn-lt"/>
              <a:ea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预期目标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预期目标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>
                <a:sym typeface="+mn-lt"/>
              </a:rPr>
              <a:t>解耦</a:t>
            </a:r>
            <a:r>
              <a:rPr lang="zh-CN" altLang="en-US" sz="3200" dirty="0">
                <a:sym typeface="+mn-lt"/>
              </a:rPr>
              <a:t>：几乎对当前业务</a:t>
            </a:r>
            <a:r>
              <a:rPr lang="en-US" altLang="zh-CN" sz="3200" dirty="0">
                <a:sym typeface="+mn-lt"/>
              </a:rPr>
              <a:t>Native</a:t>
            </a:r>
            <a:r>
              <a:rPr lang="zh-CN" altLang="en-US" sz="3200" dirty="0">
                <a:sym typeface="+mn-lt"/>
              </a:rPr>
              <a:t>代码</a:t>
            </a:r>
            <a:r>
              <a:rPr lang="en-US" altLang="zh-CN" sz="3200" dirty="0">
                <a:sym typeface="+mn-lt"/>
              </a:rPr>
              <a:t>0</a:t>
            </a:r>
            <a:r>
              <a:rPr lang="zh-CN" altLang="en-US" sz="3200" dirty="0">
                <a:sym typeface="+mn-lt"/>
              </a:rPr>
              <a:t>污染 </a:t>
            </a: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>
                <a:sym typeface="+mn-lt"/>
              </a:rPr>
              <a:t>封装</a:t>
            </a:r>
            <a:r>
              <a:rPr lang="zh-CN" altLang="en-US" sz="3200" dirty="0">
                <a:sym typeface="+mn-lt"/>
              </a:rPr>
              <a:t>：几乎不用 </a:t>
            </a:r>
            <a:r>
              <a:rPr lang="en-US" altLang="zh-CN" sz="3200" dirty="0">
                <a:sym typeface="+mn-lt"/>
              </a:rPr>
              <a:t>import </a:t>
            </a:r>
            <a:r>
              <a:rPr lang="en-US" altLang="zh-CN" sz="3200" dirty="0">
                <a:sym typeface="+mn-lt"/>
              </a:rPr>
              <a:t>&lt;Flutter/Flutter.h&gt;</a:t>
            </a:r>
            <a:endParaRPr lang="en-US" altLang="zh-CN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>
                <a:sym typeface="+mn-lt"/>
              </a:rPr>
              <a:t>便捷</a:t>
            </a:r>
            <a:r>
              <a:rPr lang="zh-CN" altLang="en-US" sz="3200" dirty="0">
                <a:sym typeface="+mn-lt"/>
              </a:rPr>
              <a:t>：非</a:t>
            </a:r>
            <a:r>
              <a:rPr lang="en-US" altLang="zh-CN" sz="3200" dirty="0">
                <a:sym typeface="+mn-lt"/>
              </a:rPr>
              <a:t>Flutter</a:t>
            </a:r>
            <a:r>
              <a:rPr lang="zh-CN" altLang="en-US" sz="3200" dirty="0">
                <a:sym typeface="+mn-lt"/>
              </a:rPr>
              <a:t>开发人员，无需安装</a:t>
            </a:r>
            <a:r>
              <a:rPr lang="en-US" altLang="zh-CN" sz="3200" dirty="0">
                <a:sym typeface="+mn-lt"/>
              </a:rPr>
              <a:t>Flutter SDK</a:t>
            </a:r>
            <a:endParaRPr lang="en-US" altLang="zh-CN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：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现状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3200" dirty="0">
                <a:sym typeface="+mn-lt"/>
              </a:rPr>
              <a:t>iOS Link</a:t>
            </a:r>
            <a:r>
              <a:rPr lang="zh-CN" altLang="en-US" sz="3200" dirty="0">
                <a:sym typeface="+mn-lt"/>
              </a:rPr>
              <a:t>（</a:t>
            </a:r>
            <a:r>
              <a:rPr lang="en-US" altLang="zh-CN" sz="3200" dirty="0">
                <a:sym typeface="+mn-lt"/>
              </a:rPr>
              <a:t>5.6.0) : </a:t>
            </a:r>
            <a:r>
              <a:rPr lang="zh-CN" altLang="en-US" sz="3200" dirty="0">
                <a:sym typeface="+mn-lt"/>
              </a:rPr>
              <a:t>支持二手和租赁业务线</a:t>
            </a: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>
                <a:sym typeface="+mn-lt"/>
              </a:rPr>
              <a:t>此处应该截图</a:t>
            </a:r>
            <a:endParaRPr lang="en-US" altLang="zh-CN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：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775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>
                <a:solidFill>
                  <a:schemeClr val="bg1"/>
                </a:solidFill>
                <a:latin typeface="+mn-lt"/>
                <a:ea typeface="+mn-ea"/>
                <a:sym typeface="+mn-lt"/>
              </a:rPr>
              <a:t>2</a:t>
            </a:r>
            <a:endParaRPr lang="en-US" altLang="zh-CN" sz="16600" b="1">
              <a:solidFill>
                <a:schemeClr val="bg1"/>
              </a:solidFill>
              <a:latin typeface="+mn-lt"/>
              <a:ea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系统组成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ym typeface="+mn-lt"/>
              </a:rPr>
              <a:t>无效的常规方式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3200" dirty="0">
              <a:sym typeface="+mn-lt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4000" strike="sngStrike" dirty="0">
                <a:solidFill>
                  <a:srgbClr val="FF0000"/>
                </a:solidFill>
                <a:sym typeface="+mn-lt"/>
              </a:rPr>
              <a:t>pod  'Flutter'</a:t>
            </a:r>
            <a:endParaRPr lang="zh-CN" altLang="en-US" sz="3200" strike="sngStrike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：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系统组成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>
                <a:sym typeface="+mn-lt"/>
              </a:rPr>
              <a:t>宿主</a:t>
            </a:r>
            <a:r>
              <a:rPr lang="zh-CN" altLang="en-US" sz="3200" dirty="0">
                <a:sym typeface="+mn-lt"/>
              </a:rPr>
              <a:t>工程：现存的</a:t>
            </a:r>
            <a:r>
              <a:rPr lang="en-US" altLang="zh-CN" sz="3200" dirty="0">
                <a:sym typeface="+mn-lt"/>
              </a:rPr>
              <a:t>iOS</a:t>
            </a:r>
            <a:r>
              <a:rPr lang="zh-CN" altLang="en-US" sz="3200" dirty="0">
                <a:sym typeface="+mn-lt"/>
              </a:rPr>
              <a:t>工程，例如</a:t>
            </a:r>
            <a:r>
              <a:rPr lang="en-US" altLang="zh-CN" sz="3200" dirty="0">
                <a:sym typeface="+mn-lt"/>
              </a:rPr>
              <a:t>lianjia_im</a:t>
            </a:r>
            <a:endParaRPr lang="en-US" altLang="zh-CN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3200" dirty="0">
                <a:sym typeface="+mn-lt"/>
              </a:rPr>
              <a:t>flutter portal </a:t>
            </a:r>
            <a:r>
              <a:rPr lang="zh-CN" altLang="en-US" sz="3200" dirty="0">
                <a:sym typeface="+mn-lt"/>
              </a:rPr>
              <a:t>工程</a:t>
            </a: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>
                <a:sym typeface="+mn-lt"/>
              </a:rPr>
              <a:t>业务 </a:t>
            </a:r>
            <a:r>
              <a:rPr lang="en-US" altLang="zh-CN" sz="3200" dirty="0">
                <a:sym typeface="+mn-lt"/>
              </a:rPr>
              <a:t>flutter</a:t>
            </a:r>
            <a:r>
              <a:rPr lang="zh-CN" altLang="en-US" sz="3200" dirty="0">
                <a:sym typeface="+mn-lt"/>
              </a:rPr>
              <a:t> </a:t>
            </a:r>
            <a:r>
              <a:rPr lang="en-US" altLang="zh-CN" sz="3200" dirty="0">
                <a:sym typeface="+mn-lt"/>
              </a:rPr>
              <a:t>packages</a:t>
            </a:r>
            <a:endParaRPr lang="en-US" altLang="zh-CN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3200" dirty="0">
                <a:sym typeface="+mn-lt"/>
              </a:rPr>
              <a:t>flutter plugins</a:t>
            </a: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：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宿主</a:t>
            </a:r>
            <a:r>
              <a:rPr lang="zh-CN" altLang="en-US" dirty="0">
                <a:solidFill>
                  <a:schemeClr val="bg1"/>
                </a:solidFill>
                <a:sym typeface="+mn-lt"/>
              </a:rPr>
              <a:t>工程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: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5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800" dirty="0">
                <a:sym typeface="+mn-lt"/>
              </a:rPr>
              <a:t>现存的</a:t>
            </a:r>
            <a:r>
              <a:rPr lang="en-US" altLang="zh-CN" sz="2800" dirty="0">
                <a:sym typeface="+mn-lt"/>
              </a:rPr>
              <a:t>iOS</a:t>
            </a:r>
            <a:r>
              <a:rPr lang="zh-CN" altLang="en-US" sz="2800" dirty="0">
                <a:sym typeface="+mn-lt"/>
              </a:rPr>
              <a:t>工程</a:t>
            </a:r>
            <a:endParaRPr lang="en-US" altLang="zh-CN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8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800" dirty="0">
                <a:sym typeface="+mn-lt"/>
              </a:rPr>
              <a:t>最终弹出</a:t>
            </a:r>
            <a:r>
              <a:rPr lang="en-US" altLang="zh-CN" sz="2800" dirty="0">
                <a:sym typeface="+mn-lt"/>
              </a:rPr>
              <a:t>Flutter</a:t>
            </a:r>
            <a:r>
              <a:rPr lang="zh-CN" altLang="en-US" sz="2800" dirty="0">
                <a:sym typeface="+mn-lt"/>
              </a:rPr>
              <a:t>页面</a:t>
            </a:r>
            <a:endParaRPr lang="zh-CN" altLang="en-US" sz="28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sz="28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800" dirty="0">
                <a:sym typeface="+mn-lt"/>
              </a:rPr>
              <a:t>Link</a:t>
            </a:r>
            <a:r>
              <a:rPr lang="zh-CN" altLang="en-US" sz="2800" dirty="0">
                <a:sym typeface="+mn-lt"/>
              </a:rPr>
              <a:t>（</a:t>
            </a:r>
            <a:r>
              <a:rPr lang="en-US" altLang="zh-CN" sz="2800" dirty="0">
                <a:sym typeface="+mn-lt"/>
              </a:rPr>
              <a:t>lianjia_im</a:t>
            </a:r>
            <a:r>
              <a:rPr lang="zh-CN" altLang="en-US" sz="2800" dirty="0">
                <a:sym typeface="+mn-lt"/>
              </a:rPr>
              <a:t>）</a:t>
            </a:r>
            <a:endParaRPr lang="zh-CN" altLang="en-US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800" dirty="0">
                <a:sym typeface="+mn-lt"/>
              </a:rPr>
              <a:t>  </a:t>
            </a:r>
            <a:r>
              <a:rPr lang="zh-CN" altLang="en-US" sz="2800" dirty="0">
                <a:sym typeface="+mn-lt"/>
                <a:hlinkClick r:id="rId3" tooltip=""/>
              </a:rPr>
              <a:t>http://gerrit.lianjia.com/#/admin/projects/mobile_ios/lianjia_im</a:t>
            </a:r>
            <a:endParaRPr lang="zh-CN" altLang="en-US" sz="28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sz="28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sz="28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8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8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800" dirty="0">
                <a:sym typeface="+mn-lt"/>
              </a:rPr>
              <a:t>： </a:t>
            </a:r>
            <a:endParaRPr lang="zh-CN" altLang="en-US" sz="28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8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800" dirty="0">
              <a:sym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chemeClr val="bg1"/>
                </a:solidFill>
                <a:sym typeface="+mn-lt"/>
              </a:rPr>
              <a:t>flutter portal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: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>
                <a:sym typeface="+mn-lt"/>
              </a:rPr>
              <a:t>所有</a:t>
            </a:r>
            <a:r>
              <a:rPr lang="en-US" altLang="zh-CN" sz="3200" dirty="0">
                <a:sym typeface="+mn-lt"/>
              </a:rPr>
              <a:t>Flutter</a:t>
            </a:r>
            <a:r>
              <a:rPr lang="zh-CN" altLang="en-US" sz="3200" dirty="0">
                <a:sym typeface="+mn-lt"/>
              </a:rPr>
              <a:t>模块最终汇总点，提供给</a:t>
            </a:r>
            <a:r>
              <a:rPr lang="en-US" altLang="zh-CN" sz="3200" dirty="0">
                <a:sym typeface="+mn-lt"/>
              </a:rPr>
              <a:t>iOS</a:t>
            </a:r>
            <a:r>
              <a:rPr lang="zh-CN" altLang="en-US" sz="3200" dirty="0">
                <a:sym typeface="+mn-lt"/>
              </a:rPr>
              <a:t>宿主工程</a:t>
            </a: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>
                <a:sym typeface="+mn-lt"/>
              </a:rPr>
              <a:t>和</a:t>
            </a:r>
            <a:r>
              <a:rPr lang="en-US" altLang="zh-CN" sz="3200" dirty="0">
                <a:sym typeface="+mn-lt"/>
              </a:rPr>
              <a:t>App </a:t>
            </a:r>
            <a:r>
              <a:rPr lang="zh-CN" altLang="en-US" sz="3200" dirty="0">
                <a:sym typeface="+mn-lt"/>
              </a:rPr>
              <a:t>是 </a:t>
            </a:r>
            <a:r>
              <a:rPr lang="zh-CN" altLang="en-US" sz="3200" dirty="0">
                <a:sym typeface="+mn-lt"/>
              </a:rPr>
              <a:t>一对一 关系</a:t>
            </a:r>
            <a:endParaRPr lang="en-US" altLang="zh-CN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：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chemeClr val="bg1"/>
                </a:solidFill>
                <a:sym typeface="+mn-lt"/>
              </a:rPr>
              <a:t>flutter portal: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：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305" y="1567815"/>
            <a:ext cx="5944235" cy="46094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业务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flutter packages: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dirty="0">
                <a:ea typeface="华文宋体" panose="02010600040101010101" charset="-122"/>
                <a:sym typeface="+mn-lt"/>
              </a:rPr>
              <a:t>Dart </a:t>
            </a:r>
            <a:r>
              <a:rPr lang="zh-CN" altLang="en-US" sz="3200" dirty="0">
                <a:ea typeface="华文宋体" panose="02010600040101010101" charset="-122"/>
                <a:sym typeface="+mn-lt"/>
              </a:rPr>
              <a:t>语言开发的业务界面和操作</a:t>
            </a:r>
            <a:endParaRPr lang="en-US" altLang="zh-CN" sz="3200" dirty="0">
              <a:ea typeface="华文宋体" panose="02010600040101010101" charset="-122"/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3200" dirty="0">
              <a:ea typeface="华文宋体" panose="02010600040101010101" charset="-122"/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3200" dirty="0">
              <a:ea typeface="华文宋体" panose="02010600040101010101" charset="-122"/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3200" dirty="0">
                <a:ea typeface="华文宋体" panose="02010600040101010101" charset="-122"/>
                <a:sym typeface="+mn-lt"/>
              </a:rPr>
              <a:t>类似</a:t>
            </a:r>
            <a:r>
              <a:rPr lang="en-US" altLang="zh-CN" sz="3200" dirty="0">
                <a:ea typeface="华文宋体" panose="02010600040101010101" charset="-122"/>
                <a:sym typeface="+mn-lt"/>
              </a:rPr>
              <a:t>iOS </a:t>
            </a:r>
            <a:r>
              <a:rPr lang="zh-CN" altLang="en-US" sz="3200" dirty="0">
                <a:ea typeface="华文宋体" panose="02010600040101010101" charset="-122"/>
                <a:sym typeface="+mn-lt"/>
              </a:rPr>
              <a:t>组件中的 </a:t>
            </a:r>
            <a:r>
              <a:rPr lang="en-US" altLang="zh-CN" sz="3200" dirty="0">
                <a:ea typeface="华文宋体" panose="02010600040101010101" charset="-122"/>
                <a:sym typeface="+mn-lt"/>
              </a:rPr>
              <a:t>Lianjia_Alliance_Rent/Home/User</a:t>
            </a:r>
            <a:endParaRPr lang="en-US" altLang="zh-CN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业务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flutter packages: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：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" y="1691005"/>
            <a:ext cx="11017885" cy="50469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sym typeface="+mn-lt"/>
              </a:rPr>
              <a:t>flutter plugins</a:t>
            </a:r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3200" dirty="0">
                <a:sym typeface="+mn-lt"/>
              </a:rPr>
              <a:t>提供</a:t>
            </a:r>
            <a:r>
              <a:rPr lang="en-US" altLang="zh-CN" sz="3200" dirty="0">
                <a:sym typeface="+mn-lt"/>
              </a:rPr>
              <a:t>Dart &amp; Native </a:t>
            </a:r>
            <a:r>
              <a:rPr lang="zh-CN" altLang="en-US" sz="3200" dirty="0">
                <a:sym typeface="+mn-lt"/>
              </a:rPr>
              <a:t>交互的</a:t>
            </a:r>
            <a:r>
              <a:rPr lang="en-US" altLang="zh-CN" sz="3200" dirty="0">
                <a:sym typeface="+mn-lt"/>
              </a:rPr>
              <a:t>Library</a:t>
            </a:r>
            <a:r>
              <a:rPr lang="zh-CN" altLang="en-US" sz="3200" dirty="0">
                <a:sym typeface="+mn-lt"/>
              </a:rPr>
              <a:t>：类似</a:t>
            </a:r>
            <a:r>
              <a:rPr lang="en-US" altLang="zh-CN" sz="3200" dirty="0">
                <a:sym typeface="+mn-lt"/>
              </a:rPr>
              <a:t>JS &amp; Native </a:t>
            </a:r>
            <a:r>
              <a:rPr lang="zh-CN" altLang="en-US" sz="3200" dirty="0">
                <a:sym typeface="+mn-lt"/>
              </a:rPr>
              <a:t>交互</a:t>
            </a: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3176270"/>
            <a:ext cx="9258300" cy="2857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sym typeface="+mn-lt"/>
              </a:rPr>
              <a:t>flutter plugins</a:t>
            </a:r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3200" dirty="0">
                <a:sym typeface="+mn-lt"/>
              </a:rPr>
              <a:t>更多细节</a:t>
            </a:r>
            <a:endParaRPr lang="zh-CN" altLang="en-US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3200" dirty="0">
                <a:sym typeface="+mn-lt"/>
                <a:hlinkClick r:id="rId3" action="ppaction://hlinkfile"/>
              </a:rPr>
              <a:t>https://github.com/flutter/plugins/tree/master/packages/device_info</a:t>
            </a: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系统总图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pic>
        <p:nvPicPr>
          <p:cNvPr id="11" name="内容占位符 10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490" y="1691005"/>
            <a:ext cx="9606280" cy="47904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775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>
                <a:solidFill>
                  <a:schemeClr val="bg1"/>
                </a:solidFill>
                <a:latin typeface="+mn-lt"/>
                <a:ea typeface="+mn-ea"/>
                <a:sym typeface="+mn-lt"/>
              </a:rPr>
              <a:t>3</a:t>
            </a:r>
            <a:endParaRPr lang="en-US" altLang="zh-CN" sz="16600" b="1">
              <a:solidFill>
                <a:schemeClr val="bg1"/>
              </a:solidFill>
              <a:latin typeface="+mn-lt"/>
              <a:ea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操作流程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操作流程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1005205" y="2011680"/>
            <a:ext cx="9498965" cy="3884930"/>
          </a:xfrm>
        </p:spPr>
        <p:txBody>
          <a:bodyPr>
            <a:normAutofit lnSpcReduction="10000"/>
          </a:bodyPr>
          <a:p>
            <a:r>
              <a:rPr lang="zh-CN" altLang="en-US" sz="1800">
                <a:solidFill>
                  <a:schemeClr val="bg1"/>
                </a:solidFill>
              </a:rPr>
              <a:t>前提：已经提交业务</a:t>
            </a:r>
            <a:r>
              <a:rPr lang="en-US" altLang="zh-CN" sz="1800">
                <a:solidFill>
                  <a:schemeClr val="bg1"/>
                </a:solidFill>
              </a:rPr>
              <a:t>flutter package</a:t>
            </a:r>
            <a:endParaRPr lang="en-US" altLang="zh-CN" sz="1800">
              <a:solidFill>
                <a:schemeClr val="bg1"/>
              </a:solidFill>
            </a:endParaRPr>
          </a:p>
          <a:p>
            <a:endParaRPr lang="en-US" altLang="zh-CN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填写</a:t>
            </a:r>
            <a:r>
              <a:rPr lang="en-US" altLang="zh-CN" sz="1800">
                <a:solidFill>
                  <a:schemeClr val="bg1"/>
                </a:solidFill>
              </a:rPr>
              <a:t>flutter portal </a:t>
            </a:r>
            <a:r>
              <a:rPr lang="zh-CN" altLang="en-US" sz="1800">
                <a:solidFill>
                  <a:schemeClr val="bg1"/>
                </a:solidFill>
              </a:rPr>
              <a:t>工程的</a:t>
            </a:r>
            <a:r>
              <a:rPr lang="en-US" altLang="zh-CN" sz="1800">
                <a:solidFill>
                  <a:schemeClr val="bg1"/>
                </a:solidFill>
              </a:rPr>
              <a:t>yaml</a:t>
            </a:r>
            <a:r>
              <a:rPr lang="zh-CN" altLang="en-US" sz="1800">
                <a:solidFill>
                  <a:schemeClr val="bg1"/>
                </a:solidFill>
              </a:rPr>
              <a:t>文件</a:t>
            </a:r>
            <a:endParaRPr lang="zh-CN" altLang="en-US" sz="1800">
              <a:solidFill>
                <a:schemeClr val="bg1"/>
              </a:solidFill>
            </a:endParaRPr>
          </a:p>
          <a:p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运行生成</a:t>
            </a:r>
            <a:r>
              <a:rPr lang="en-US" altLang="zh-CN" sz="1800">
                <a:solidFill>
                  <a:schemeClr val="bg1"/>
                </a:solidFill>
              </a:rPr>
              <a:t>portal</a:t>
            </a:r>
            <a:r>
              <a:rPr lang="zh-CN" altLang="en-US" sz="1800">
                <a:solidFill>
                  <a:schemeClr val="bg1"/>
                </a:solidFill>
              </a:rPr>
              <a:t>产物并且上传文件服务器的脚本</a:t>
            </a:r>
            <a:endParaRPr lang="zh-CN" alt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宿主工程中填写产物下载地址，</a:t>
            </a:r>
            <a:r>
              <a:rPr lang="en-US" altLang="zh-CN" sz="1800">
                <a:solidFill>
                  <a:schemeClr val="bg1"/>
                </a:solidFill>
              </a:rPr>
              <a:t>pod install/update</a:t>
            </a:r>
            <a:endParaRPr lang="en-US" altLang="zh-CN" sz="1800">
              <a:solidFill>
                <a:schemeClr val="bg1"/>
              </a:solidFill>
            </a:endParaRPr>
          </a:p>
          <a:p>
            <a:endParaRPr lang="en-US" altLang="zh-CN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关键 </a:t>
            </a:r>
            <a:r>
              <a:rPr lang="en-US" altLang="zh-CN" sz="1800">
                <a:solidFill>
                  <a:schemeClr val="bg1"/>
                </a:solidFill>
              </a:rPr>
              <a:t>iOS </a:t>
            </a:r>
            <a:r>
              <a:rPr lang="zh-CN" altLang="en-US" sz="1800">
                <a:solidFill>
                  <a:schemeClr val="bg1"/>
                </a:solidFill>
              </a:rPr>
              <a:t>代码</a:t>
            </a:r>
            <a:endParaRPr lang="en-US" altLang="zh-CN" sz="1800">
              <a:solidFill>
                <a:schemeClr val="bg1"/>
              </a:solidFill>
            </a:endParaRPr>
          </a:p>
          <a:p>
            <a:endParaRPr lang="en-US" altLang="zh-CN" sz="1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chemeClr val="bg1"/>
                </a:solidFill>
              </a:rPr>
              <a:t>发版操作</a:t>
            </a:r>
            <a:endParaRPr lang="zh-CN" altLang="en-US" sz="18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操作样本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FF0000"/>
                </a:solidFill>
              </a:rPr>
              <a:t>宿主工程（</a:t>
            </a:r>
            <a:r>
              <a:rPr lang="en-US" altLang="zh-CN">
                <a:solidFill>
                  <a:srgbClr val="FF0000"/>
                </a:solidFill>
              </a:rPr>
              <a:t>Link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http://gerrit.lianjia.com/#/admin/projects/mobile_ios/lianjia_im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r>
              <a:rPr lang="en-US" altLang="zh-CN">
                <a:solidFill>
                  <a:srgbClr val="FF0000"/>
                </a:solidFill>
              </a:rPr>
              <a:t>flutter portal </a:t>
            </a:r>
            <a:r>
              <a:rPr lang="zh-CN" altLang="en-US">
                <a:solidFill>
                  <a:srgbClr val="FF0000"/>
                </a:solidFill>
              </a:rPr>
              <a:t>工程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http://gerrit.lianjia.com/#/admin/projects/mobile_resource/flutter_im_portal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业务工程（二手业务）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http://gerrit.lianjia.com/#/admin/projects/mobile_resource/flutter_alliance_package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>
                <a:sym typeface="+mn-ea"/>
              </a:rPr>
              <a:t>填写</a:t>
            </a:r>
            <a:r>
              <a:rPr lang="en-US" altLang="zh-CN">
                <a:sym typeface="+mn-ea"/>
              </a:rPr>
              <a:t>flutter portal </a:t>
            </a:r>
            <a:r>
              <a:rPr lang="zh-CN" altLang="en-US">
                <a:sym typeface="+mn-ea"/>
              </a:rPr>
              <a:t>工程的</a:t>
            </a:r>
            <a:r>
              <a:rPr lang="en-US" altLang="zh-CN">
                <a:sym typeface="+mn-ea"/>
              </a:rPr>
              <a:t>yaml</a:t>
            </a:r>
            <a:r>
              <a:rPr lang="zh-CN" altLang="en-US">
                <a:sym typeface="+mn-ea"/>
              </a:rPr>
              <a:t>文件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：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0" y="1477645"/>
            <a:ext cx="11017885" cy="50469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 fontScale="90000"/>
          </a:bodyPr>
          <a:lstStyle/>
          <a:p>
            <a:pPr algn="l">
              <a:lnSpc>
                <a:spcPct val="120000"/>
              </a:lnSpc>
            </a:pPr>
            <a:r>
              <a:rPr lang="zh-CN" altLang="en-US">
                <a:sym typeface="+mn-ea"/>
              </a:rPr>
              <a:t>运行生成</a:t>
            </a:r>
            <a:r>
              <a:rPr lang="en-US" altLang="zh-CN">
                <a:sym typeface="+mn-ea"/>
              </a:rPr>
              <a:t>portal</a:t>
            </a:r>
            <a:r>
              <a:rPr lang="zh-CN" altLang="en-US">
                <a:sym typeface="+mn-ea"/>
              </a:rPr>
              <a:t>产物并且上传文件服务器的脚本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25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9600" dirty="0">
                <a:sym typeface="+mn-lt"/>
              </a:rPr>
              <a:t>在调试通过后：</a:t>
            </a:r>
            <a:endParaRPr lang="zh-CN" altLang="en-US" sz="96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96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9600" dirty="0">
                <a:sym typeface="+mn-lt"/>
              </a:rPr>
              <a:t>（1） 在本地生成Flutter产物： flutter build ios</a:t>
            </a:r>
            <a:endParaRPr lang="zh-CN" altLang="en-US" sz="96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96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9600" dirty="0">
                <a:sym typeface="+mn-lt"/>
              </a:rPr>
              <a:t>  (2)   将产物上传到文件服务器</a:t>
            </a:r>
            <a:endParaRPr lang="zh-CN" altLang="en-US" sz="96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96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9600" dirty="0">
                <a:sym typeface="+mn-lt"/>
              </a:rPr>
              <a:t>   在flutter_im_portal 根目录下执行命令行</a:t>
            </a:r>
            <a:endParaRPr lang="zh-CN" altLang="en-US" sz="96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9600" dirty="0">
                <a:sym typeface="+mn-lt"/>
              </a:rPr>
              <a:t>  </a:t>
            </a:r>
            <a:r>
              <a:rPr lang="zh-CN" altLang="en-US" sz="9600" dirty="0">
                <a:solidFill>
                  <a:srgbClr val="FF0000"/>
                </a:solidFill>
                <a:sym typeface="+mn-lt"/>
              </a:rPr>
              <a:t> sh script/upload2ArtiFactory.sh flutter_im_portal ios/second_rent</a:t>
            </a:r>
            <a:endParaRPr lang="zh-CN" altLang="en-US" sz="9600" dirty="0">
              <a:solidFill>
                <a:srgbClr val="FF0000"/>
              </a:solidFill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96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：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>
                <a:sym typeface="+mn-ea"/>
              </a:rPr>
              <a:t>运行</a:t>
            </a:r>
            <a:r>
              <a:rPr lang="zh-CN" altLang="en-US">
                <a:sym typeface="+mn-ea"/>
              </a:rPr>
              <a:t>生成</a:t>
            </a:r>
            <a:r>
              <a:rPr lang="en-US" altLang="zh-CN">
                <a:sym typeface="+mn-ea"/>
              </a:rPr>
              <a:t>portal</a:t>
            </a:r>
            <a:r>
              <a:rPr lang="zh-CN" altLang="en-US">
                <a:sym typeface="+mn-ea"/>
              </a:rPr>
              <a:t>产物并且上传文件服务器的脚本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产物在文件服务器的</a:t>
            </a:r>
            <a:r>
              <a:rPr lang="en-US" altLang="zh-CN"/>
              <a:t>URL</a:t>
            </a:r>
            <a:r>
              <a:rPr lang="zh-CN" altLang="en-US"/>
              <a:t>：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>
                <a:hlinkClick r:id="rId1" tooltip=""/>
              </a:rPr>
              <a:t>http://artifactory.intra.ke.com/artifactory/ke-test-repository/flutter_im_portal/ios/second_rent/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3600">
                <a:sym typeface="+mn-ea"/>
              </a:rPr>
              <a:t>宿主工程中填写产物下载地址，</a:t>
            </a:r>
            <a:r>
              <a:rPr lang="en-US" altLang="zh-CN" sz="3600">
                <a:sym typeface="+mn-ea"/>
              </a:rPr>
              <a:t>pod install/update</a:t>
            </a:r>
            <a:endParaRPr lang="zh-CN" altLang="en-US" sz="3600"/>
          </a:p>
        </p:txBody>
      </p:sp>
      <p:pic>
        <p:nvPicPr>
          <p:cNvPr id="8" name="内容占位符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635250"/>
            <a:ext cx="10515600" cy="2514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发版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生成</a:t>
            </a:r>
            <a:r>
              <a:rPr lang="en-US" altLang="zh-CN"/>
              <a:t>flutter portal </a:t>
            </a:r>
            <a:r>
              <a:rPr lang="zh-CN" altLang="en-US"/>
              <a:t>产物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>
                <a:hlinkClick r:id="rId1" tooltip=""/>
              </a:rPr>
              <a:t>http://ci.lianjia.com/job/RD/job/flutter_im_portal_iOS_i/build?delay=0sec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生成</a:t>
            </a:r>
            <a:r>
              <a:rPr lang="en-US" altLang="zh-CN"/>
              <a:t>Link App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hlinkClick r:id="rId2" tooltip=""/>
              </a:rPr>
              <a:t>http://ci.lianjia.com/job/mobileqa/job/SecondHandLink/view/mobile_pack_NEW/job/mobileqa-secondHandLink-IOS-Dev-NEW/build?delay=0sec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关键 </a:t>
            </a:r>
            <a:r>
              <a:rPr lang="en-US" altLang="zh-CN"/>
              <a:t>iOS 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注册</a:t>
            </a:r>
            <a:r>
              <a:rPr lang="en-US" altLang="zh-CN"/>
              <a:t>flutter plugin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弹出</a:t>
            </a:r>
            <a:r>
              <a:rPr lang="en-US" altLang="zh-CN"/>
              <a:t>flutter </a:t>
            </a:r>
            <a:r>
              <a:rPr lang="zh-CN" altLang="en-US"/>
              <a:t>界面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注册</a:t>
            </a:r>
            <a:r>
              <a:rPr lang="en-US" altLang="zh-CN" sz="3600"/>
              <a:t>flutter plugin</a:t>
            </a:r>
            <a:r>
              <a:rPr lang="zh-CN" altLang="en-US" sz="3600"/>
              <a:t>：</a:t>
            </a:r>
            <a:r>
              <a:rPr lang="en-US" altLang="zh-CN" sz="3600"/>
              <a:t>AppDelegate </a:t>
            </a:r>
            <a:r>
              <a:rPr lang="zh-CN" altLang="en-US" sz="3600"/>
              <a:t>启动时候执行</a:t>
            </a:r>
            <a:endParaRPr lang="zh-CN" altLang="en-US" sz="3600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78865" y="1825625"/>
            <a:ext cx="10033635" cy="43516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弹出</a:t>
            </a:r>
            <a:r>
              <a:rPr lang="en-US" altLang="zh-CN"/>
              <a:t>Flutter</a:t>
            </a:r>
            <a:r>
              <a:rPr lang="zh-CN" altLang="en-US"/>
              <a:t>界面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61720" y="1825625"/>
            <a:ext cx="10067925" cy="43516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弹出</a:t>
            </a:r>
            <a:r>
              <a:rPr lang="en-US" altLang="zh-CN"/>
              <a:t>Flutter</a:t>
            </a:r>
            <a:r>
              <a:rPr lang="zh-CN" altLang="en-US"/>
              <a:t>界面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9415" y="3295650"/>
            <a:ext cx="11392535" cy="12166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Lianjia_IM_Flutter_Entrance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建议</a:t>
            </a:r>
            <a:r>
              <a:rPr lang="en-US" altLang="zh-CN"/>
              <a:t>Flutter </a:t>
            </a:r>
            <a:r>
              <a:rPr lang="zh-CN" altLang="en-US"/>
              <a:t>相关 </a:t>
            </a:r>
            <a:r>
              <a:rPr lang="en-US" altLang="zh-CN"/>
              <a:t>action </a:t>
            </a:r>
            <a:r>
              <a:rPr lang="zh-CN" altLang="en-US"/>
              <a:t>汇总模块</a:t>
            </a:r>
            <a:r>
              <a:rPr lang="en-US" altLang="zh-CN"/>
              <a:t>: </a:t>
            </a:r>
            <a:r>
              <a:rPr lang="zh-CN" altLang="en-US"/>
              <a:t>隔离</a:t>
            </a:r>
            <a:r>
              <a:rPr lang="en-US" altLang="zh-CN"/>
              <a:t>Flutter</a:t>
            </a:r>
            <a:r>
              <a:rPr lang="zh-CN" altLang="en-US"/>
              <a:t>代码变化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870" y="3086735"/>
            <a:ext cx="8319135" cy="21710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775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>
                <a:solidFill>
                  <a:schemeClr val="bg1"/>
                </a:solidFill>
                <a:latin typeface="+mn-lt"/>
                <a:ea typeface="+mn-ea"/>
                <a:sym typeface="+mn-lt"/>
              </a:rPr>
              <a:t>4</a:t>
            </a:r>
            <a:endParaRPr lang="en-US" altLang="zh-CN" sz="16600" b="1">
              <a:solidFill>
                <a:schemeClr val="bg1"/>
              </a:solidFill>
              <a:latin typeface="+mn-lt"/>
              <a:ea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流程细节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流程细节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1005205" y="2011680"/>
            <a:ext cx="9498965" cy="3884930"/>
          </a:xfrm>
        </p:spPr>
        <p:txBody>
          <a:bodyPr>
            <a:normAutofit lnSpcReduction="20000"/>
          </a:bodyPr>
          <a:p>
            <a:pPr marL="0" indent="0">
              <a:buNone/>
            </a:pP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flutter_im_portal </a:t>
            </a:r>
            <a:r>
              <a:rPr lang="zh-CN" altLang="en-US">
                <a:sym typeface="+mn-ea"/>
              </a:rPr>
              <a:t>产物的详解</a:t>
            </a:r>
            <a:endParaRPr lang="en-US" altLang="zh-CN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ym typeface="+mn-ea"/>
              </a:rPr>
              <a:t>flutter_im_portal </a:t>
            </a:r>
            <a:r>
              <a:rPr lang="zh-CN" altLang="en-US">
                <a:sym typeface="+mn-ea"/>
              </a:rPr>
              <a:t>产物生成</a:t>
            </a:r>
            <a:r>
              <a:rPr lang="zh-CN" altLang="en-US">
                <a:sym typeface="+mn-ea"/>
              </a:rPr>
              <a:t>逻辑</a:t>
            </a:r>
            <a:r>
              <a:rPr lang="zh-CN" altLang="en-US">
                <a:sym typeface="+mn-ea"/>
              </a:rPr>
              <a:t>和</a:t>
            </a:r>
            <a:r>
              <a:rPr lang="zh-CN" altLang="en-US">
                <a:sym typeface="+mn-ea"/>
              </a:rPr>
              <a:t>文件服务器介绍</a:t>
            </a:r>
            <a:endParaRPr lang="zh-CN" altLang="en-US">
              <a:sym typeface="+mn-ea"/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iOS </a:t>
            </a:r>
            <a:r>
              <a:rPr lang="zh-CN" altLang="en-US">
                <a:solidFill>
                  <a:schemeClr val="bg1"/>
                </a:solidFill>
              </a:rPr>
              <a:t>宿主</a:t>
            </a:r>
            <a:r>
              <a:rPr lang="zh-CN" altLang="en-US">
                <a:solidFill>
                  <a:schemeClr val="bg1"/>
                </a:solidFill>
              </a:rPr>
              <a:t>工程整合脚本逻辑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ym typeface="+mn-ea"/>
              </a:rPr>
              <a:t>iOS </a:t>
            </a:r>
            <a:r>
              <a:rPr lang="zh-CN" altLang="en-US">
                <a:sym typeface="+mn-ea"/>
              </a:rPr>
              <a:t>宿主</a:t>
            </a:r>
            <a:r>
              <a:rPr lang="zh-CN" altLang="en-US">
                <a:sym typeface="+mn-ea"/>
              </a:rPr>
              <a:t>工程 本地调试的方法</a:t>
            </a:r>
            <a:endParaRPr lang="zh-CN" altLang="en-US">
              <a:sym typeface="+mn-ea"/>
            </a:endParaRPr>
          </a:p>
          <a:p>
            <a:endParaRPr lang="zh-CN" altLang="en-US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ym typeface="+mn-ea"/>
              </a:rPr>
              <a:t>compile </a:t>
            </a:r>
            <a:r>
              <a:rPr lang="zh-CN" altLang="en-US">
                <a:sym typeface="+mn-ea"/>
              </a:rPr>
              <a:t>和 </a:t>
            </a:r>
            <a:r>
              <a:rPr lang="en-US" altLang="zh-CN">
                <a:sym typeface="+mn-ea"/>
              </a:rPr>
              <a:t>build </a:t>
            </a:r>
            <a:r>
              <a:rPr lang="zh-CN" altLang="en-US">
                <a:sym typeface="+mn-ea"/>
              </a:rPr>
              <a:t>分离</a:t>
            </a:r>
            <a:endParaRPr lang="zh-CN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flutter_im_portal </a:t>
            </a:r>
            <a:r>
              <a:rPr lang="zh-CN" altLang="en-US">
                <a:sym typeface="+mn-ea"/>
              </a:rPr>
              <a:t>产物的详解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60475" y="1691005"/>
            <a:ext cx="2970530" cy="46920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300" y="814070"/>
            <a:ext cx="3060700" cy="57321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flutter_im_portal </a:t>
            </a:r>
            <a:r>
              <a:rPr lang="zh-CN" altLang="en-US">
                <a:sym typeface="+mn-ea"/>
              </a:rPr>
              <a:t>产物的详解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680" y="1388745"/>
            <a:ext cx="3060700" cy="5103495"/>
          </a:xfrm>
          <a:prstGeom prst="rect">
            <a:avLst/>
          </a:prstGeom>
        </p:spPr>
      </p:pic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9590" y="1388745"/>
            <a:ext cx="2300605" cy="53555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flutter_im_portal </a:t>
            </a:r>
            <a:r>
              <a:rPr lang="zh-CN" altLang="en-US">
                <a:sym typeface="+mn-ea"/>
              </a:rPr>
              <a:t>产物生成逻辑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endParaRPr lang="zh-CN" altLang="en-US"/>
          </a:p>
          <a:p>
            <a:pPr marL="457200" indent="-457200">
              <a:buAutoNum type="arabicPeriod"/>
            </a:pPr>
            <a:r>
              <a:rPr lang="zh-CN" altLang="en-US">
                <a:sym typeface="+mn-ea"/>
              </a:rPr>
              <a:t>命令行</a:t>
            </a:r>
            <a:r>
              <a:rPr lang="en-US" altLang="zh-CN">
                <a:sym typeface="+mn-ea"/>
              </a:rPr>
              <a:t>flutter build ios, </a:t>
            </a:r>
            <a:r>
              <a:rPr lang="zh-CN" altLang="en-US">
                <a:sym typeface="+mn-ea"/>
              </a:rPr>
              <a:t>生成</a:t>
            </a:r>
            <a:r>
              <a:rPr lang="en-US" altLang="zh-CN">
                <a:sym typeface="+mn-ea"/>
              </a:rPr>
              <a:t>Flutter.framework </a:t>
            </a:r>
            <a:r>
              <a:rPr lang="zh-CN" altLang="en-US">
                <a:sym typeface="+mn-ea"/>
              </a:rPr>
              <a:t>和 </a:t>
            </a:r>
            <a:r>
              <a:rPr lang="en-US" altLang="zh-CN">
                <a:sym typeface="+mn-ea"/>
              </a:rPr>
              <a:t>App.framework</a:t>
            </a:r>
            <a:endParaRPr lang="en-US" altLang="zh-CN"/>
          </a:p>
          <a:p>
            <a:pPr marL="457200" indent="-457200">
              <a:buAutoNum type="arabicPeriod"/>
            </a:pPr>
            <a:endParaRPr lang="en-US" altLang="zh-CN"/>
          </a:p>
          <a:p>
            <a:pPr marL="457200" indent="-457200">
              <a:buAutoNum type="arabicPeriod"/>
            </a:pPr>
            <a:r>
              <a:rPr lang="en-US" altLang="zh-CN"/>
              <a:t>pod install/update </a:t>
            </a:r>
            <a:r>
              <a:rPr lang="zh-CN" altLang="en-US"/>
              <a:t>时候，从</a:t>
            </a:r>
            <a:r>
              <a:rPr lang="en-US" altLang="zh-CN"/>
              <a:t>.symlink </a:t>
            </a:r>
            <a:r>
              <a:rPr lang="zh-CN" altLang="en-US"/>
              <a:t>文件夹中复制</a:t>
            </a:r>
            <a:r>
              <a:rPr lang="en-US" altLang="zh-CN"/>
              <a:t>flutter plugin</a:t>
            </a:r>
            <a:r>
              <a:rPr lang="zh-CN" altLang="en-US"/>
              <a:t>，通过修改</a:t>
            </a:r>
            <a:r>
              <a:rPr lang="en-US" altLang="zh-CN"/>
              <a:t>flutter</a:t>
            </a:r>
            <a:r>
              <a:rPr lang="zh-CN" altLang="en-US"/>
              <a:t>生成的</a:t>
            </a:r>
            <a:r>
              <a:rPr lang="en-US" altLang="zh-CN"/>
              <a:t>Runner</a:t>
            </a:r>
            <a:r>
              <a:rPr lang="zh-CN" altLang="en-US"/>
              <a:t>工程的</a:t>
            </a:r>
            <a:r>
              <a:rPr lang="en-US" altLang="zh-CN"/>
              <a:t>Podfile</a:t>
            </a:r>
            <a:r>
              <a:rPr lang="zh-CN" altLang="en-US"/>
              <a:t>中实现</a:t>
            </a:r>
            <a:endParaRPr lang="zh-CN" altLang="en-US"/>
          </a:p>
          <a:p>
            <a:pPr marL="457200" indent="-457200">
              <a:buAutoNum type="arabicPeriod"/>
            </a:pPr>
            <a:endParaRPr lang="zh-CN" altLang="en-US"/>
          </a:p>
          <a:p>
            <a:pPr marL="457200" indent="-457200">
              <a:buAutoNum type="arabicPeriod"/>
            </a:pPr>
            <a:r>
              <a:rPr lang="zh-CN" altLang="en-US"/>
              <a:t>运行 </a:t>
            </a:r>
            <a:r>
              <a:rPr lang="zh-CN" altLang="en-US" dirty="0">
                <a:solidFill>
                  <a:srgbClr val="FF0000"/>
                </a:solidFill>
                <a:sym typeface="+mn-lt"/>
              </a:rPr>
              <a:t>script/upload2ArtiFactory.sh</a:t>
            </a:r>
            <a:r>
              <a:rPr lang="zh-CN" altLang="en-US"/>
              <a:t> ，将</a:t>
            </a:r>
            <a:r>
              <a:rPr lang="zh-CN" altLang="en-US"/>
              <a:t>所有产物，上传到文件服务器</a:t>
            </a:r>
            <a:r>
              <a:rPr lang="zh-CN" altLang="en-US"/>
              <a:t>、</a:t>
            </a:r>
            <a:endParaRPr lang="zh-CN" altLang="en-US"/>
          </a:p>
          <a:p>
            <a:pPr marL="457200" indent="-45720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	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flutter_im_portal </a:t>
            </a:r>
            <a:r>
              <a:rPr lang="zh-CN" altLang="en-US">
                <a:sym typeface="+mn-ea"/>
              </a:rPr>
              <a:t>产物上传逻辑和文件服务器介绍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便捷的文件管理服务：</a:t>
            </a:r>
            <a:r>
              <a:rPr lang="en-US" altLang="zh-CN"/>
              <a:t>artifactory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hlinkClick r:id="rId1"/>
              </a:rPr>
              <a:t>http://artifactory.intra.ke.com/artifactory/webapp/#/artifacts/browse/tree/General/ke-test-repository/flutter_im_portal</a:t>
            </a:r>
            <a:endParaRPr lang="zh-CN" altLang="en-US">
              <a:hlinkClick r:id="rId1"/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iOS </a:t>
            </a:r>
            <a:r>
              <a:rPr lang="zh-CN" altLang="en-US">
                <a:sym typeface="+mn-ea"/>
              </a:rPr>
              <a:t>宿主工程 本地调试的方法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921635"/>
            <a:ext cx="10515600" cy="2158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iOS </a:t>
            </a:r>
            <a:r>
              <a:rPr lang="zh-CN" altLang="en-US">
                <a:sym typeface="+mn-ea"/>
              </a:rPr>
              <a:t>宿主工程 本地调试的方法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6105" y="2870835"/>
            <a:ext cx="11193780" cy="23666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compile </a:t>
            </a:r>
            <a:r>
              <a:rPr lang="zh-CN" altLang="en-US"/>
              <a:t>和 </a:t>
            </a:r>
            <a:r>
              <a:rPr lang="en-US" altLang="zh-CN"/>
              <a:t>build </a:t>
            </a:r>
            <a:r>
              <a:rPr lang="zh-CN" altLang="en-US"/>
              <a:t>分离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  <a:sym typeface="+mn-lt"/>
            </a:endParaRP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  <a:sym typeface="+mn-lt"/>
            </a:endParaRP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  <a:sym typeface="+mn-lt"/>
            </a:endParaRP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  <a:sym typeface="+mn-lt"/>
            </a:endParaRPr>
          </a:p>
          <a:p>
            <a:pPr marL="0" indent="0" algn="ctr">
              <a:buNone/>
            </a:pPr>
            <a:r>
              <a:rPr lang="en-US" altLang="zh-CN" sz="4000" strike="sngStrike" dirty="0">
                <a:solidFill>
                  <a:srgbClr val="FF0000"/>
                </a:solidFill>
                <a:uFillTx/>
                <a:sym typeface="+mn-lt"/>
              </a:rPr>
              <a:t>pod  'Flutter'</a:t>
            </a:r>
            <a:endParaRPr lang="zh-CN" altLang="en-US" dirty="0">
              <a:sym typeface="+mn-lt"/>
            </a:endParaRPr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compile </a:t>
            </a:r>
            <a:r>
              <a:rPr lang="zh-CN" altLang="en-US">
                <a:sym typeface="+mn-ea"/>
              </a:rPr>
              <a:t>和 </a:t>
            </a:r>
            <a:r>
              <a:rPr lang="en-US" altLang="zh-CN">
                <a:sym typeface="+mn-ea"/>
              </a:rPr>
              <a:t>build </a:t>
            </a:r>
            <a:r>
              <a:rPr lang="zh-CN" altLang="en-US">
                <a:sym typeface="+mn-ea"/>
              </a:rPr>
              <a:t>分离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295" y="1690370"/>
            <a:ext cx="10020935" cy="49968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6600" dirty="0">
                <a:sym typeface="+mn-lt"/>
              </a:rPr>
              <a:t>Q&amp;A</a:t>
            </a: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  <a:hlinkClick r:id="rId3" action="ppaction://hlinkfile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>
                <a:sym typeface="+mn-lt"/>
              </a:rPr>
              <a:t>谢谢观赏</a:t>
            </a:r>
            <a:endParaRPr lang="zh-CN" altLang="en-US">
              <a:sym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2961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2961"/>
</p:tagLst>
</file>

<file path=ppt/tags/tag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TEMPLATE_THUMBS_INDEX" val="1、9、12、17、19、22"/>
</p:tagLst>
</file>

<file path=ppt/tags/tag4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*a*1"/>
  <p:tag name="KSO_WM_UNIT_LAYERLEVEL" val="1"/>
  <p:tag name="KSO_WM_UNIT_VALUE" val="11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星空系列PPT"/>
</p:tagLst>
</file>

<file path=ppt/tags/tag5.xml><?xml version="1.0" encoding="utf-8"?>
<p:tagLst xmlns:p="http://schemas.openxmlformats.org/presentationml/2006/main">
  <p:tag name="KSO_WM_TEMPLATE_CATEGORY" val="custom"/>
  <p:tag name="KSO_WM_TEMPLATE_INDEX" val="20182961"/>
  <p:tag name="KSO_WM_UNIT_TYPE" val="b"/>
  <p:tag name="KSO_WM_UNIT_INDEX" val="1"/>
  <p:tag name="KSO_WM_UNIT_ID" val="custom20182961_1*b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闪耀星空"/>
</p:tagLst>
</file>

<file path=ppt/tags/tag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  <p:tag name="KSO_WM_TEMPLATE_THUMBS_INDEX" val="1、9、12、17、19、22、"/>
</p:tagLst>
</file>

<file path=ppt/tags/tag7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8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9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10.xml><?xml version="1.0" encoding="utf-8"?>
<p:tagLst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11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12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1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14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15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1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17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18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19.xml><?xml version="1.0" encoding="utf-8"?>
<p:tagLst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20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21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22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2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24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25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2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27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28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29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30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31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32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33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34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35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36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37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38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39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40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41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42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4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44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45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4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47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48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49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50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51.xml><?xml version="1.0" encoding="utf-8"?>
<p:tagLst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52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5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54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55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57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58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59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60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61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62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71.xml><?xml version="1.0" encoding="utf-8"?>
<p:tagLst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72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7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74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75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182961"/>
</p:tagLst>
</file>

<file path=ppt/tags/tag8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84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85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8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87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88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22*a*1"/>
  <p:tag name="KSO_WM_UNIT_LAYERLEVEL" val="1"/>
  <p:tag name="KSO_WM_UNIT_VALUE" val="6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谢谢观赏"/>
</p:tagLst>
</file>

<file path=ppt/tags/tag89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22"/>
  <p:tag name="KSO_WM_SLIDE_INDEX" val="22"/>
  <p:tag name="KSO_WM_SLIDE_ITEM_CNT" val="1"/>
  <p:tag name="KSO_WM_SLIDE_LAYOUT" val="a"/>
  <p:tag name="KSO_WM_SLIDE_LAYOUT_CNT" val="1"/>
  <p:tag name="KSO_WM_SLIDE_TYPE" val="endPage"/>
  <p:tag name="KSO_WM_BEAUTIFY_FLAG" val="#wm#"/>
</p:tagLst>
</file>

<file path=ppt/theme/theme1.xml><?xml version="1.0" encoding="utf-8"?>
<a:theme xmlns:a="http://schemas.openxmlformats.org/drawingml/2006/main" name="1_Office 主题​​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0roircou">
      <a:majorFont>
        <a:latin typeface="Arial"/>
        <a:ea typeface="SimHei"/>
        <a:cs typeface=""/>
      </a:majorFont>
      <a:minorFont>
        <a:latin typeface="Arial"/>
        <a:ea typeface="Sim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2565</Words>
  <Application>WPS 演示</Application>
  <PresentationFormat>宽屏</PresentationFormat>
  <Paragraphs>324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7" baseType="lpstr">
      <vt:lpstr>Arial</vt:lpstr>
      <vt:lpstr>方正书宋_GBK</vt:lpstr>
      <vt:lpstr>Wingdings</vt:lpstr>
      <vt:lpstr>宋体</vt:lpstr>
      <vt:lpstr>Calibri</vt:lpstr>
      <vt:lpstr>微软雅黑</vt:lpstr>
      <vt:lpstr>Helvetica Neue</vt:lpstr>
      <vt:lpstr>SimHei</vt:lpstr>
      <vt:lpstr>汉仪中黑KW</vt:lpstr>
      <vt:lpstr>汉仪旗黑KW</vt:lpstr>
      <vt:lpstr>宋体</vt:lpstr>
      <vt:lpstr>Arial Unicode MS</vt:lpstr>
      <vt:lpstr>汉仪书宋二KW</vt:lpstr>
      <vt:lpstr>华文黑体</vt:lpstr>
      <vt:lpstr>华文宋体</vt:lpstr>
      <vt:lpstr>1_Office 主题​​</vt:lpstr>
      <vt:lpstr>大前端 顾吉涛（iOS）</vt:lpstr>
      <vt:lpstr>系统组成 </vt:lpstr>
      <vt:lpstr>为什么是Flutter </vt:lpstr>
      <vt:lpstr>系统组成 </vt:lpstr>
      <vt:lpstr>预期目标 </vt:lpstr>
      <vt:lpstr>系统组成 </vt:lpstr>
      <vt:lpstr>Flutter 简介 </vt:lpstr>
      <vt:lpstr>系统组成 </vt:lpstr>
      <vt:lpstr>系统组成 </vt:lpstr>
      <vt:lpstr>主工程:</vt:lpstr>
      <vt:lpstr>flutter portal:</vt:lpstr>
      <vt:lpstr>主工程:</vt:lpstr>
      <vt:lpstr>业务flutter packages:</vt:lpstr>
      <vt:lpstr>系统组成 </vt:lpstr>
      <vt:lpstr>flutter plugins</vt:lpstr>
      <vt:lpstr>目前的应用</vt:lpstr>
      <vt:lpstr>系统组成 </vt:lpstr>
      <vt:lpstr>系统总图</vt:lpstr>
      <vt:lpstr>PowerPoint 演示文稿</vt:lpstr>
      <vt:lpstr>flutter portal:</vt:lpstr>
      <vt:lpstr>flutter portal: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操作流程 </vt:lpstr>
      <vt:lpstr>操作流程</vt:lpstr>
      <vt:lpstr>PowerPoint 演示文稿</vt:lpstr>
      <vt:lpstr>flutter_im_portal 产物的详解</vt:lpstr>
      <vt:lpstr>PowerPoint 演示文稿</vt:lpstr>
      <vt:lpstr>flutter_im_portal 产物上传逻辑和文件服务器介绍</vt:lpstr>
      <vt:lpstr>PowerPoint 演示文稿</vt:lpstr>
      <vt:lpstr>iOS 宿主工程 本地调试的方法</vt:lpstr>
      <vt:lpstr>PowerPoint 演示文稿</vt:lpstr>
      <vt:lpstr>系统总图</vt:lpstr>
      <vt:lpstr> </vt:lpstr>
      <vt:lpstr>谢谢观赏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lianjia</cp:lastModifiedBy>
  <cp:revision>212</cp:revision>
  <dcterms:created xsi:type="dcterms:W3CDTF">2019-05-29T12:32:41Z</dcterms:created>
  <dcterms:modified xsi:type="dcterms:W3CDTF">2019-05-29T12:32:41Z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2052-1.0.0.1327</vt:lpwstr>
  </property>
</Properties>
</file>